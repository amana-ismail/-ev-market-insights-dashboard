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57F797-9FCF-4B3F-9161-05FA0F46534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2A7B412-8886-4042-9F9A-EC1AF3CC5C7B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IN"/>
            <a:t>The Electric Vehicle (EV) Market Insights Dashboard visualizes EV growth, adoption trends, and brand performance.</a:t>
          </a:r>
        </a:p>
      </dgm:t>
    </dgm:pt>
    <dgm:pt modelId="{A706A5B3-3E35-4D53-9C77-F9000C68508D}" type="parTrans" cxnId="{36758AA3-CAC4-4A33-87D7-9F3B2637B8EB}">
      <dgm:prSet/>
      <dgm:spPr/>
      <dgm:t>
        <a:bodyPr/>
        <a:lstStyle/>
        <a:p>
          <a:endParaRPr lang="en-IN"/>
        </a:p>
      </dgm:t>
    </dgm:pt>
    <dgm:pt modelId="{FD0E4F7B-921D-4DB7-8D88-539ADA850DDE}" type="sibTrans" cxnId="{36758AA3-CAC4-4A33-87D7-9F3B2637B8EB}">
      <dgm:prSet/>
      <dgm:spPr/>
      <dgm:t>
        <a:bodyPr/>
        <a:lstStyle/>
        <a:p>
          <a:endParaRPr lang="en-IN"/>
        </a:p>
      </dgm:t>
    </dgm:pt>
    <dgm:pt modelId="{AB87E338-D54D-4EE3-8C22-A11145AFAB26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IN" dirty="0"/>
            <a:t>This project demonstrates my ability to clean, analyse, and visualize real-world sustainability data using Python and Power BI.</a:t>
          </a:r>
        </a:p>
      </dgm:t>
    </dgm:pt>
    <dgm:pt modelId="{18839244-30E5-4362-8B95-AC86854AA1D7}" type="parTrans" cxnId="{9856D3A1-537B-4048-BF3E-0867334E5ADA}">
      <dgm:prSet/>
      <dgm:spPr/>
      <dgm:t>
        <a:bodyPr/>
        <a:lstStyle/>
        <a:p>
          <a:endParaRPr lang="en-IN"/>
        </a:p>
      </dgm:t>
    </dgm:pt>
    <dgm:pt modelId="{2A074C61-31AF-4894-B6C2-D62FA0082F10}" type="sibTrans" cxnId="{9856D3A1-537B-4048-BF3E-0867334E5ADA}">
      <dgm:prSet/>
      <dgm:spPr/>
      <dgm:t>
        <a:bodyPr/>
        <a:lstStyle/>
        <a:p>
          <a:endParaRPr lang="en-IN"/>
        </a:p>
      </dgm:t>
    </dgm:pt>
    <dgm:pt modelId="{90954184-5C8F-475E-A1C4-32DC39CDAF26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IN"/>
            <a:t>Objective:</a:t>
          </a:r>
        </a:p>
      </dgm:t>
    </dgm:pt>
    <dgm:pt modelId="{E8CBDFDE-BF54-4E41-85CE-773E144C9C40}" type="parTrans" cxnId="{D9F3209E-7146-4EE9-9775-64E64E63FD94}">
      <dgm:prSet/>
      <dgm:spPr/>
      <dgm:t>
        <a:bodyPr/>
        <a:lstStyle/>
        <a:p>
          <a:endParaRPr lang="en-IN"/>
        </a:p>
      </dgm:t>
    </dgm:pt>
    <dgm:pt modelId="{7E2C2063-3C19-4115-B696-1C017684B768}" type="sibTrans" cxnId="{D9F3209E-7146-4EE9-9775-64E64E63FD94}">
      <dgm:prSet/>
      <dgm:spPr/>
      <dgm:t>
        <a:bodyPr/>
        <a:lstStyle/>
        <a:p>
          <a:endParaRPr lang="en-IN"/>
        </a:p>
      </dgm:t>
    </dgm:pt>
    <dgm:pt modelId="{F1489B44-EA5A-4005-96E1-F79FA9FA9F47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IN" dirty="0"/>
            <a:t>• Understand global EV adoption trends</a:t>
          </a:r>
        </a:p>
      </dgm:t>
    </dgm:pt>
    <dgm:pt modelId="{083E63CB-F55A-44B6-826D-8A941A0B986F}" type="parTrans" cxnId="{6F4E3C9C-86E5-4145-93AB-C762453DB4F6}">
      <dgm:prSet/>
      <dgm:spPr/>
      <dgm:t>
        <a:bodyPr/>
        <a:lstStyle/>
        <a:p>
          <a:endParaRPr lang="en-IN"/>
        </a:p>
      </dgm:t>
    </dgm:pt>
    <dgm:pt modelId="{CBA6FB40-FB5B-478E-A56D-F53F82D9B91A}" type="sibTrans" cxnId="{6F4E3C9C-86E5-4145-93AB-C762453DB4F6}">
      <dgm:prSet/>
      <dgm:spPr/>
      <dgm:t>
        <a:bodyPr/>
        <a:lstStyle/>
        <a:p>
          <a:endParaRPr lang="en-IN"/>
        </a:p>
      </dgm:t>
    </dgm:pt>
    <dgm:pt modelId="{15F329B8-FA6E-4685-91E4-6C790E302F0F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IN" dirty="0"/>
            <a:t>• Compare BEVs vs PHEVs market share</a:t>
          </a:r>
        </a:p>
      </dgm:t>
    </dgm:pt>
    <dgm:pt modelId="{82955965-FB38-46B8-BC55-D500D45A10FE}" type="parTrans" cxnId="{1C833A8B-45EE-4AB5-9ECC-8B4585293DD5}">
      <dgm:prSet/>
      <dgm:spPr/>
      <dgm:t>
        <a:bodyPr/>
        <a:lstStyle/>
        <a:p>
          <a:endParaRPr lang="en-IN"/>
        </a:p>
      </dgm:t>
    </dgm:pt>
    <dgm:pt modelId="{68555A9D-3822-4644-BF7C-DB3472F38427}" type="sibTrans" cxnId="{1C833A8B-45EE-4AB5-9ECC-8B4585293DD5}">
      <dgm:prSet/>
      <dgm:spPr/>
      <dgm:t>
        <a:bodyPr/>
        <a:lstStyle/>
        <a:p>
          <a:endParaRPr lang="en-IN"/>
        </a:p>
      </dgm:t>
    </dgm:pt>
    <dgm:pt modelId="{74AA65C4-5EAC-412E-B9D6-417646214C0E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IN"/>
            <a:t>• Identify top-performing EV brands and regions</a:t>
          </a:r>
        </a:p>
      </dgm:t>
    </dgm:pt>
    <dgm:pt modelId="{23CBE7B3-363B-4D2D-BED2-3AE7CC4C171B}" type="parTrans" cxnId="{52773EB5-A5F6-44D3-BC66-AC613864844F}">
      <dgm:prSet/>
      <dgm:spPr/>
      <dgm:t>
        <a:bodyPr/>
        <a:lstStyle/>
        <a:p>
          <a:endParaRPr lang="en-IN"/>
        </a:p>
      </dgm:t>
    </dgm:pt>
    <dgm:pt modelId="{C11B91C7-13C8-49D1-B844-007B4C58466B}" type="sibTrans" cxnId="{52773EB5-A5F6-44D3-BC66-AC613864844F}">
      <dgm:prSet/>
      <dgm:spPr/>
      <dgm:t>
        <a:bodyPr/>
        <a:lstStyle/>
        <a:p>
          <a:endParaRPr lang="en-IN"/>
        </a:p>
      </dgm:t>
    </dgm:pt>
    <dgm:pt modelId="{9F8C784B-F788-4E31-8E8E-A88CB998181F}" type="pres">
      <dgm:prSet presAssocID="{AB57F797-9FCF-4B3F-9161-05FA0F465345}" presName="linear" presStyleCnt="0">
        <dgm:presLayoutVars>
          <dgm:animLvl val="lvl"/>
          <dgm:resizeHandles val="exact"/>
        </dgm:presLayoutVars>
      </dgm:prSet>
      <dgm:spPr/>
    </dgm:pt>
    <dgm:pt modelId="{40CAF5CC-040A-45D2-800F-D87C5FE35DA0}" type="pres">
      <dgm:prSet presAssocID="{C2A7B412-8886-4042-9F9A-EC1AF3CC5C7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9D73FAB-4EC1-426D-8AD7-552AFC36550A}" type="pres">
      <dgm:prSet presAssocID="{FD0E4F7B-921D-4DB7-8D88-539ADA850DDE}" presName="spacer" presStyleCnt="0"/>
      <dgm:spPr/>
    </dgm:pt>
    <dgm:pt modelId="{C792677A-830D-4FBC-8478-BFCD8365A482}" type="pres">
      <dgm:prSet presAssocID="{AB87E338-D54D-4EE3-8C22-A11145AFAB2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9C4E4D4-6CBC-47E3-B88A-E21799818B52}" type="pres">
      <dgm:prSet presAssocID="{2A074C61-31AF-4894-B6C2-D62FA0082F10}" presName="spacer" presStyleCnt="0"/>
      <dgm:spPr/>
    </dgm:pt>
    <dgm:pt modelId="{151B7599-FBB5-444F-9639-8F8868EB4452}" type="pres">
      <dgm:prSet presAssocID="{90954184-5C8F-475E-A1C4-32DC39CDAF2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F27980D-3605-4423-BB84-09875B8BAF0B}" type="pres">
      <dgm:prSet presAssocID="{7E2C2063-3C19-4115-B696-1C017684B768}" presName="spacer" presStyleCnt="0"/>
      <dgm:spPr/>
    </dgm:pt>
    <dgm:pt modelId="{E9C1E78B-2E6A-41FE-AC91-A8248212EC97}" type="pres">
      <dgm:prSet presAssocID="{F1489B44-EA5A-4005-96E1-F79FA9FA9F4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B54F5A6-174B-4EC2-90C6-076D6A565C95}" type="pres">
      <dgm:prSet presAssocID="{CBA6FB40-FB5B-478E-A56D-F53F82D9B91A}" presName="spacer" presStyleCnt="0"/>
      <dgm:spPr/>
    </dgm:pt>
    <dgm:pt modelId="{158A612D-8295-48E5-9DE4-6D7E8FF93082}" type="pres">
      <dgm:prSet presAssocID="{15F329B8-FA6E-4685-91E4-6C790E302F0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B7CFE8A-9E0A-40A1-9548-A77D522C4690}" type="pres">
      <dgm:prSet presAssocID="{68555A9D-3822-4644-BF7C-DB3472F38427}" presName="spacer" presStyleCnt="0"/>
      <dgm:spPr/>
    </dgm:pt>
    <dgm:pt modelId="{354C4F9A-A7FD-40E1-944D-9871FA549283}" type="pres">
      <dgm:prSet presAssocID="{74AA65C4-5EAC-412E-B9D6-417646214C0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769E327-CA0D-4D2B-824B-6E85C4E08B2F}" type="presOf" srcId="{AB57F797-9FCF-4B3F-9161-05FA0F465345}" destId="{9F8C784B-F788-4E31-8E8E-A88CB998181F}" srcOrd="0" destOrd="0" presId="urn:microsoft.com/office/officeart/2005/8/layout/vList2"/>
    <dgm:cxn modelId="{7D44233F-CDA5-482D-9E5F-3657CDE2434D}" type="presOf" srcId="{90954184-5C8F-475E-A1C4-32DC39CDAF26}" destId="{151B7599-FBB5-444F-9639-8F8868EB4452}" srcOrd="0" destOrd="0" presId="urn:microsoft.com/office/officeart/2005/8/layout/vList2"/>
    <dgm:cxn modelId="{CC062F3F-A5BC-419A-81C9-CC27F93517D1}" type="presOf" srcId="{AB87E338-D54D-4EE3-8C22-A11145AFAB26}" destId="{C792677A-830D-4FBC-8478-BFCD8365A482}" srcOrd="0" destOrd="0" presId="urn:microsoft.com/office/officeart/2005/8/layout/vList2"/>
    <dgm:cxn modelId="{791D5D44-0B4C-4A39-9C8B-A51A7EAB170C}" type="presOf" srcId="{15F329B8-FA6E-4685-91E4-6C790E302F0F}" destId="{158A612D-8295-48E5-9DE4-6D7E8FF93082}" srcOrd="0" destOrd="0" presId="urn:microsoft.com/office/officeart/2005/8/layout/vList2"/>
    <dgm:cxn modelId="{1C833A8B-45EE-4AB5-9ECC-8B4585293DD5}" srcId="{AB57F797-9FCF-4B3F-9161-05FA0F465345}" destId="{15F329B8-FA6E-4685-91E4-6C790E302F0F}" srcOrd="4" destOrd="0" parTransId="{82955965-FB38-46B8-BC55-D500D45A10FE}" sibTransId="{68555A9D-3822-4644-BF7C-DB3472F38427}"/>
    <dgm:cxn modelId="{6F4E3C9C-86E5-4145-93AB-C762453DB4F6}" srcId="{AB57F797-9FCF-4B3F-9161-05FA0F465345}" destId="{F1489B44-EA5A-4005-96E1-F79FA9FA9F47}" srcOrd="3" destOrd="0" parTransId="{083E63CB-F55A-44B6-826D-8A941A0B986F}" sibTransId="{CBA6FB40-FB5B-478E-A56D-F53F82D9B91A}"/>
    <dgm:cxn modelId="{D9F3209E-7146-4EE9-9775-64E64E63FD94}" srcId="{AB57F797-9FCF-4B3F-9161-05FA0F465345}" destId="{90954184-5C8F-475E-A1C4-32DC39CDAF26}" srcOrd="2" destOrd="0" parTransId="{E8CBDFDE-BF54-4E41-85CE-773E144C9C40}" sibTransId="{7E2C2063-3C19-4115-B696-1C017684B768}"/>
    <dgm:cxn modelId="{8B2C069F-AAB4-49EF-BA48-DBFC91386E90}" type="presOf" srcId="{74AA65C4-5EAC-412E-B9D6-417646214C0E}" destId="{354C4F9A-A7FD-40E1-944D-9871FA549283}" srcOrd="0" destOrd="0" presId="urn:microsoft.com/office/officeart/2005/8/layout/vList2"/>
    <dgm:cxn modelId="{9856D3A1-537B-4048-BF3E-0867334E5ADA}" srcId="{AB57F797-9FCF-4B3F-9161-05FA0F465345}" destId="{AB87E338-D54D-4EE3-8C22-A11145AFAB26}" srcOrd="1" destOrd="0" parTransId="{18839244-30E5-4362-8B95-AC86854AA1D7}" sibTransId="{2A074C61-31AF-4894-B6C2-D62FA0082F10}"/>
    <dgm:cxn modelId="{36758AA3-CAC4-4A33-87D7-9F3B2637B8EB}" srcId="{AB57F797-9FCF-4B3F-9161-05FA0F465345}" destId="{C2A7B412-8886-4042-9F9A-EC1AF3CC5C7B}" srcOrd="0" destOrd="0" parTransId="{A706A5B3-3E35-4D53-9C77-F9000C68508D}" sibTransId="{FD0E4F7B-921D-4DB7-8D88-539ADA850DDE}"/>
    <dgm:cxn modelId="{52773EB5-A5F6-44D3-BC66-AC613864844F}" srcId="{AB57F797-9FCF-4B3F-9161-05FA0F465345}" destId="{74AA65C4-5EAC-412E-B9D6-417646214C0E}" srcOrd="5" destOrd="0" parTransId="{23CBE7B3-363B-4D2D-BED2-3AE7CC4C171B}" sibTransId="{C11B91C7-13C8-49D1-B844-007B4C58466B}"/>
    <dgm:cxn modelId="{E1CDDFD3-98C9-4D8D-B191-950CC5599B11}" type="presOf" srcId="{F1489B44-EA5A-4005-96E1-F79FA9FA9F47}" destId="{E9C1E78B-2E6A-41FE-AC91-A8248212EC97}" srcOrd="0" destOrd="0" presId="urn:microsoft.com/office/officeart/2005/8/layout/vList2"/>
    <dgm:cxn modelId="{684222F6-CC72-4928-84EB-BBF8F9D73EDD}" type="presOf" srcId="{C2A7B412-8886-4042-9F9A-EC1AF3CC5C7B}" destId="{40CAF5CC-040A-45D2-800F-D87C5FE35DA0}" srcOrd="0" destOrd="0" presId="urn:microsoft.com/office/officeart/2005/8/layout/vList2"/>
    <dgm:cxn modelId="{6FD4F33C-4F12-4F2B-8BE6-602AE0775C87}" type="presParOf" srcId="{9F8C784B-F788-4E31-8E8E-A88CB998181F}" destId="{40CAF5CC-040A-45D2-800F-D87C5FE35DA0}" srcOrd="0" destOrd="0" presId="urn:microsoft.com/office/officeart/2005/8/layout/vList2"/>
    <dgm:cxn modelId="{E279B1F8-6878-4742-9D22-B3EBB5B47857}" type="presParOf" srcId="{9F8C784B-F788-4E31-8E8E-A88CB998181F}" destId="{B9D73FAB-4EC1-426D-8AD7-552AFC36550A}" srcOrd="1" destOrd="0" presId="urn:microsoft.com/office/officeart/2005/8/layout/vList2"/>
    <dgm:cxn modelId="{78F62B18-BFD4-427E-A351-906FACC1BDB3}" type="presParOf" srcId="{9F8C784B-F788-4E31-8E8E-A88CB998181F}" destId="{C792677A-830D-4FBC-8478-BFCD8365A482}" srcOrd="2" destOrd="0" presId="urn:microsoft.com/office/officeart/2005/8/layout/vList2"/>
    <dgm:cxn modelId="{1A592B59-635A-4630-A166-58810EFDBC92}" type="presParOf" srcId="{9F8C784B-F788-4E31-8E8E-A88CB998181F}" destId="{D9C4E4D4-6CBC-47E3-B88A-E21799818B52}" srcOrd="3" destOrd="0" presId="urn:microsoft.com/office/officeart/2005/8/layout/vList2"/>
    <dgm:cxn modelId="{E44C659D-379C-4376-8DFD-FD3C12956856}" type="presParOf" srcId="{9F8C784B-F788-4E31-8E8E-A88CB998181F}" destId="{151B7599-FBB5-444F-9639-8F8868EB4452}" srcOrd="4" destOrd="0" presId="urn:microsoft.com/office/officeart/2005/8/layout/vList2"/>
    <dgm:cxn modelId="{C6338708-0AD0-45A4-8431-D6F629882030}" type="presParOf" srcId="{9F8C784B-F788-4E31-8E8E-A88CB998181F}" destId="{AF27980D-3605-4423-BB84-09875B8BAF0B}" srcOrd="5" destOrd="0" presId="urn:microsoft.com/office/officeart/2005/8/layout/vList2"/>
    <dgm:cxn modelId="{0B2467E3-3CB9-46C3-B424-0FE01BF42582}" type="presParOf" srcId="{9F8C784B-F788-4E31-8E8E-A88CB998181F}" destId="{E9C1E78B-2E6A-41FE-AC91-A8248212EC97}" srcOrd="6" destOrd="0" presId="urn:microsoft.com/office/officeart/2005/8/layout/vList2"/>
    <dgm:cxn modelId="{421F50F9-20F3-4027-8F79-C16B03D9CF6E}" type="presParOf" srcId="{9F8C784B-F788-4E31-8E8E-A88CB998181F}" destId="{4B54F5A6-174B-4EC2-90C6-076D6A565C95}" srcOrd="7" destOrd="0" presId="urn:microsoft.com/office/officeart/2005/8/layout/vList2"/>
    <dgm:cxn modelId="{4F1C2891-DC6D-4DA8-9AA8-B36006485B84}" type="presParOf" srcId="{9F8C784B-F788-4E31-8E8E-A88CB998181F}" destId="{158A612D-8295-48E5-9DE4-6D7E8FF93082}" srcOrd="8" destOrd="0" presId="urn:microsoft.com/office/officeart/2005/8/layout/vList2"/>
    <dgm:cxn modelId="{00DAE627-EDA9-4583-8C2B-240F0FF51F0D}" type="presParOf" srcId="{9F8C784B-F788-4E31-8E8E-A88CB998181F}" destId="{1B7CFE8A-9E0A-40A1-9548-A77D522C4690}" srcOrd="9" destOrd="0" presId="urn:microsoft.com/office/officeart/2005/8/layout/vList2"/>
    <dgm:cxn modelId="{558C206A-492B-4C02-96F2-374AA58341F1}" type="presParOf" srcId="{9F8C784B-F788-4E31-8E8E-A88CB998181F}" destId="{354C4F9A-A7FD-40E1-944D-9871FA54928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65265A-2C5D-4058-AD85-34BDF6FA6C6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D485D2E-AD95-4D50-988D-00601E4A15DD}">
      <dgm:prSet/>
      <dgm:spPr/>
      <dgm:t>
        <a:bodyPr/>
        <a:lstStyle/>
        <a:p>
          <a:r>
            <a:rPr lang="en-IN"/>
            <a:t>Dashboard Features:</a:t>
          </a:r>
        </a:p>
      </dgm:t>
    </dgm:pt>
    <dgm:pt modelId="{5101E702-7B50-404B-B5C0-6F5C3A66E57F}" type="parTrans" cxnId="{2DD9D26A-6970-4EB4-A8AE-48FC46494B57}">
      <dgm:prSet/>
      <dgm:spPr/>
      <dgm:t>
        <a:bodyPr/>
        <a:lstStyle/>
        <a:p>
          <a:endParaRPr lang="en-IN"/>
        </a:p>
      </dgm:t>
    </dgm:pt>
    <dgm:pt modelId="{F1A46ADF-AE95-4DCC-B320-22E1C7F3BECE}" type="sibTrans" cxnId="{2DD9D26A-6970-4EB4-A8AE-48FC46494B57}">
      <dgm:prSet/>
      <dgm:spPr/>
      <dgm:t>
        <a:bodyPr/>
        <a:lstStyle/>
        <a:p>
          <a:endParaRPr lang="en-IN"/>
        </a:p>
      </dgm:t>
    </dgm:pt>
    <dgm:pt modelId="{654142F6-7218-4AB4-B6F5-9A8C0B000FFD}">
      <dgm:prSet/>
      <dgm:spPr/>
      <dgm:t>
        <a:bodyPr/>
        <a:lstStyle/>
        <a:p>
          <a:r>
            <a:rPr lang="en-IN" dirty="0"/>
            <a:t>KPI Cards: Total EVs, Average Range, BEV Share</a:t>
          </a:r>
        </a:p>
      </dgm:t>
    </dgm:pt>
    <dgm:pt modelId="{47F646D5-D196-4775-9131-3A2EB6612AA7}" type="parTrans" cxnId="{FBBEC39F-0E87-4ADE-B694-3BCDCFE040C5}">
      <dgm:prSet/>
      <dgm:spPr/>
      <dgm:t>
        <a:bodyPr/>
        <a:lstStyle/>
        <a:p>
          <a:endParaRPr lang="en-IN"/>
        </a:p>
      </dgm:t>
    </dgm:pt>
    <dgm:pt modelId="{9E62080A-8664-4521-A258-156CBDF3DFD2}" type="sibTrans" cxnId="{FBBEC39F-0E87-4ADE-B694-3BCDCFE040C5}">
      <dgm:prSet/>
      <dgm:spPr/>
      <dgm:t>
        <a:bodyPr/>
        <a:lstStyle/>
        <a:p>
          <a:endParaRPr lang="en-IN"/>
        </a:p>
      </dgm:t>
    </dgm:pt>
    <dgm:pt modelId="{78252A1E-3FFA-4FD5-954E-3459C26AF18D}">
      <dgm:prSet/>
      <dgm:spPr/>
      <dgm:t>
        <a:bodyPr/>
        <a:lstStyle/>
        <a:p>
          <a:r>
            <a:rPr lang="en-IN"/>
            <a:t>Line Chart: Year-wise growth of EVs</a:t>
          </a:r>
        </a:p>
      </dgm:t>
    </dgm:pt>
    <dgm:pt modelId="{4BA9A024-A9D2-4C2F-95B5-35E00B43A3C4}" type="parTrans" cxnId="{562C8A21-4492-46D5-8D23-7C95D11BD6D7}">
      <dgm:prSet/>
      <dgm:spPr/>
      <dgm:t>
        <a:bodyPr/>
        <a:lstStyle/>
        <a:p>
          <a:endParaRPr lang="en-IN"/>
        </a:p>
      </dgm:t>
    </dgm:pt>
    <dgm:pt modelId="{F17DD1F5-B83E-4940-8D37-DF1CA056556B}" type="sibTrans" cxnId="{562C8A21-4492-46D5-8D23-7C95D11BD6D7}">
      <dgm:prSet/>
      <dgm:spPr/>
      <dgm:t>
        <a:bodyPr/>
        <a:lstStyle/>
        <a:p>
          <a:endParaRPr lang="en-IN"/>
        </a:p>
      </dgm:t>
    </dgm:pt>
    <dgm:pt modelId="{56722753-4BCB-495F-AEFC-1F2B22B772A9}">
      <dgm:prSet/>
      <dgm:spPr/>
      <dgm:t>
        <a:bodyPr/>
        <a:lstStyle/>
        <a:p>
          <a:r>
            <a:rPr lang="en-IN"/>
            <a:t>Bar Chart: Top Brands by Market Count</a:t>
          </a:r>
        </a:p>
      </dgm:t>
    </dgm:pt>
    <dgm:pt modelId="{2D7D2DC4-A003-43D4-BEAE-B0A951568823}" type="parTrans" cxnId="{87FA6A6C-FA08-4420-8790-3111B8B8A7CA}">
      <dgm:prSet/>
      <dgm:spPr/>
      <dgm:t>
        <a:bodyPr/>
        <a:lstStyle/>
        <a:p>
          <a:endParaRPr lang="en-IN"/>
        </a:p>
      </dgm:t>
    </dgm:pt>
    <dgm:pt modelId="{AC0169F5-F903-419E-8850-ABE9A7C78CB3}" type="sibTrans" cxnId="{87FA6A6C-FA08-4420-8790-3111B8B8A7CA}">
      <dgm:prSet/>
      <dgm:spPr/>
      <dgm:t>
        <a:bodyPr/>
        <a:lstStyle/>
        <a:p>
          <a:endParaRPr lang="en-IN"/>
        </a:p>
      </dgm:t>
    </dgm:pt>
    <dgm:pt modelId="{4795760C-00C4-4874-A30C-19C1F6348A2D}">
      <dgm:prSet/>
      <dgm:spPr/>
      <dgm:t>
        <a:bodyPr/>
        <a:lstStyle/>
        <a:p>
          <a:r>
            <a:rPr lang="en-IN"/>
            <a:t>Map: EV distribution across states/cities</a:t>
          </a:r>
        </a:p>
      </dgm:t>
    </dgm:pt>
    <dgm:pt modelId="{A3FF3B06-F7D9-422C-A68F-F9F358CAD4BA}" type="parTrans" cxnId="{34C443A0-5E31-460A-B47D-52823BA97B77}">
      <dgm:prSet/>
      <dgm:spPr/>
      <dgm:t>
        <a:bodyPr/>
        <a:lstStyle/>
        <a:p>
          <a:endParaRPr lang="en-IN"/>
        </a:p>
      </dgm:t>
    </dgm:pt>
    <dgm:pt modelId="{86888518-0385-463D-9675-8127AFF46CEC}" type="sibTrans" cxnId="{34C443A0-5E31-460A-B47D-52823BA97B77}">
      <dgm:prSet/>
      <dgm:spPr/>
      <dgm:t>
        <a:bodyPr/>
        <a:lstStyle/>
        <a:p>
          <a:endParaRPr lang="en-IN"/>
        </a:p>
      </dgm:t>
    </dgm:pt>
    <dgm:pt modelId="{315C70F5-49B2-461C-8D8F-E92762BFB781}">
      <dgm:prSet/>
      <dgm:spPr/>
      <dgm:t>
        <a:bodyPr/>
        <a:lstStyle/>
        <a:p>
          <a:r>
            <a:rPr lang="en-IN"/>
            <a:t>Forecast: Predicted growth till 2030</a:t>
          </a:r>
        </a:p>
      </dgm:t>
    </dgm:pt>
    <dgm:pt modelId="{2CA94618-7AE7-432E-B2B3-B94195F89BFE}" type="parTrans" cxnId="{EF11F4C4-0C7B-4F24-AC3D-D6ABBA5A0400}">
      <dgm:prSet/>
      <dgm:spPr/>
      <dgm:t>
        <a:bodyPr/>
        <a:lstStyle/>
        <a:p>
          <a:endParaRPr lang="en-IN"/>
        </a:p>
      </dgm:t>
    </dgm:pt>
    <dgm:pt modelId="{FE6FD2F7-A2E7-46DE-A0C8-CFF9F1A131C2}" type="sibTrans" cxnId="{EF11F4C4-0C7B-4F24-AC3D-D6ABBA5A0400}">
      <dgm:prSet/>
      <dgm:spPr/>
      <dgm:t>
        <a:bodyPr/>
        <a:lstStyle/>
        <a:p>
          <a:endParaRPr lang="en-IN"/>
        </a:p>
      </dgm:t>
    </dgm:pt>
    <dgm:pt modelId="{7E440A30-EF38-476A-9DDE-D2E62DA6CD4F}">
      <dgm:prSet/>
      <dgm:spPr/>
      <dgm:t>
        <a:bodyPr/>
        <a:lstStyle/>
        <a:p>
          <a:r>
            <a:rPr lang="en-IN" dirty="0" err="1"/>
            <a:t>Color</a:t>
          </a:r>
          <a:r>
            <a:rPr lang="en-IN" dirty="0"/>
            <a:t> Theme: Blue + White (Clean, Modern UI)</a:t>
          </a:r>
        </a:p>
      </dgm:t>
    </dgm:pt>
    <dgm:pt modelId="{B0B9DD42-BF31-4795-B7BA-5A80F340BF1C}" type="parTrans" cxnId="{F7EA74D4-27AE-4BE9-913C-3FF24D2E425F}">
      <dgm:prSet/>
      <dgm:spPr/>
      <dgm:t>
        <a:bodyPr/>
        <a:lstStyle/>
        <a:p>
          <a:endParaRPr lang="en-IN"/>
        </a:p>
      </dgm:t>
    </dgm:pt>
    <dgm:pt modelId="{5C22D51A-CB67-4B68-ADC5-ED7FEF641697}" type="sibTrans" cxnId="{F7EA74D4-27AE-4BE9-913C-3FF24D2E425F}">
      <dgm:prSet/>
      <dgm:spPr/>
      <dgm:t>
        <a:bodyPr/>
        <a:lstStyle/>
        <a:p>
          <a:endParaRPr lang="en-IN"/>
        </a:p>
      </dgm:t>
    </dgm:pt>
    <dgm:pt modelId="{6E8562AB-CDA6-413F-BB3C-4435A6E5FFCC}" type="pres">
      <dgm:prSet presAssocID="{7365265A-2C5D-4058-AD85-34BDF6FA6C69}" presName="linear" presStyleCnt="0">
        <dgm:presLayoutVars>
          <dgm:dir/>
          <dgm:animLvl val="lvl"/>
          <dgm:resizeHandles val="exact"/>
        </dgm:presLayoutVars>
      </dgm:prSet>
      <dgm:spPr/>
    </dgm:pt>
    <dgm:pt modelId="{A2841AFA-5BA1-4957-98BF-67320DA050B0}" type="pres">
      <dgm:prSet presAssocID="{ED485D2E-AD95-4D50-988D-00601E4A15DD}" presName="parentLin" presStyleCnt="0"/>
      <dgm:spPr/>
    </dgm:pt>
    <dgm:pt modelId="{E84133D7-6FAB-4F65-974D-6BB9A764F851}" type="pres">
      <dgm:prSet presAssocID="{ED485D2E-AD95-4D50-988D-00601E4A15DD}" presName="parentLeftMargin" presStyleLbl="node1" presStyleIdx="0" presStyleCnt="7"/>
      <dgm:spPr/>
    </dgm:pt>
    <dgm:pt modelId="{BA79E796-993D-4676-8AAF-499E853582AA}" type="pres">
      <dgm:prSet presAssocID="{ED485D2E-AD95-4D50-988D-00601E4A15DD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C8B5AED-BCB5-47E8-AB48-45E29720EA5E}" type="pres">
      <dgm:prSet presAssocID="{ED485D2E-AD95-4D50-988D-00601E4A15DD}" presName="negativeSpace" presStyleCnt="0"/>
      <dgm:spPr/>
    </dgm:pt>
    <dgm:pt modelId="{8A5D638C-CBE9-46CB-9AA2-C0020ABFB29C}" type="pres">
      <dgm:prSet presAssocID="{ED485D2E-AD95-4D50-988D-00601E4A15DD}" presName="childText" presStyleLbl="conFgAcc1" presStyleIdx="0" presStyleCnt="7">
        <dgm:presLayoutVars>
          <dgm:bulletEnabled val="1"/>
        </dgm:presLayoutVars>
      </dgm:prSet>
      <dgm:spPr/>
    </dgm:pt>
    <dgm:pt modelId="{204A3ACA-6FAD-4959-90F7-B67FB0EAC45A}" type="pres">
      <dgm:prSet presAssocID="{F1A46ADF-AE95-4DCC-B320-22E1C7F3BECE}" presName="spaceBetweenRectangles" presStyleCnt="0"/>
      <dgm:spPr/>
    </dgm:pt>
    <dgm:pt modelId="{5B9C5F44-2861-4CE3-8083-3362B4200599}" type="pres">
      <dgm:prSet presAssocID="{654142F6-7218-4AB4-B6F5-9A8C0B000FFD}" presName="parentLin" presStyleCnt="0"/>
      <dgm:spPr/>
    </dgm:pt>
    <dgm:pt modelId="{A7CBF517-71E0-4F24-9925-2E679593C7C8}" type="pres">
      <dgm:prSet presAssocID="{654142F6-7218-4AB4-B6F5-9A8C0B000FFD}" presName="parentLeftMargin" presStyleLbl="node1" presStyleIdx="0" presStyleCnt="7"/>
      <dgm:spPr/>
    </dgm:pt>
    <dgm:pt modelId="{2CDAE5B3-7880-49BA-AD6A-20128196C23B}" type="pres">
      <dgm:prSet presAssocID="{654142F6-7218-4AB4-B6F5-9A8C0B000FF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76F41D53-B473-4DEE-BA70-E11A64C35090}" type="pres">
      <dgm:prSet presAssocID="{654142F6-7218-4AB4-B6F5-9A8C0B000FFD}" presName="negativeSpace" presStyleCnt="0"/>
      <dgm:spPr/>
    </dgm:pt>
    <dgm:pt modelId="{B6A40E31-018D-4B56-8A49-7A93EA6A0FBD}" type="pres">
      <dgm:prSet presAssocID="{654142F6-7218-4AB4-B6F5-9A8C0B000FFD}" presName="childText" presStyleLbl="conFgAcc1" presStyleIdx="1" presStyleCnt="7">
        <dgm:presLayoutVars>
          <dgm:bulletEnabled val="1"/>
        </dgm:presLayoutVars>
      </dgm:prSet>
      <dgm:spPr/>
    </dgm:pt>
    <dgm:pt modelId="{23DFBC4C-9F89-4EEF-9461-C54D4C1E3354}" type="pres">
      <dgm:prSet presAssocID="{9E62080A-8664-4521-A258-156CBDF3DFD2}" presName="spaceBetweenRectangles" presStyleCnt="0"/>
      <dgm:spPr/>
    </dgm:pt>
    <dgm:pt modelId="{ADD00D86-8428-4461-9EBE-4017639A3A07}" type="pres">
      <dgm:prSet presAssocID="{78252A1E-3FFA-4FD5-954E-3459C26AF18D}" presName="parentLin" presStyleCnt="0"/>
      <dgm:spPr/>
    </dgm:pt>
    <dgm:pt modelId="{02CF9F3A-3B13-4796-8BAA-125342B214BD}" type="pres">
      <dgm:prSet presAssocID="{78252A1E-3FFA-4FD5-954E-3459C26AF18D}" presName="parentLeftMargin" presStyleLbl="node1" presStyleIdx="1" presStyleCnt="7"/>
      <dgm:spPr/>
    </dgm:pt>
    <dgm:pt modelId="{19821708-773E-4462-A661-E5F70F80DBB1}" type="pres">
      <dgm:prSet presAssocID="{78252A1E-3FFA-4FD5-954E-3459C26AF18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E91B506C-D6FC-4E8C-8E20-CAC7451A7749}" type="pres">
      <dgm:prSet presAssocID="{78252A1E-3FFA-4FD5-954E-3459C26AF18D}" presName="negativeSpace" presStyleCnt="0"/>
      <dgm:spPr/>
    </dgm:pt>
    <dgm:pt modelId="{2B730A2B-5149-4122-9C26-C05624E58AFC}" type="pres">
      <dgm:prSet presAssocID="{78252A1E-3FFA-4FD5-954E-3459C26AF18D}" presName="childText" presStyleLbl="conFgAcc1" presStyleIdx="2" presStyleCnt="7">
        <dgm:presLayoutVars>
          <dgm:bulletEnabled val="1"/>
        </dgm:presLayoutVars>
      </dgm:prSet>
      <dgm:spPr/>
    </dgm:pt>
    <dgm:pt modelId="{48034A25-6D54-407E-8927-14644B2C44C1}" type="pres">
      <dgm:prSet presAssocID="{F17DD1F5-B83E-4940-8D37-DF1CA056556B}" presName="spaceBetweenRectangles" presStyleCnt="0"/>
      <dgm:spPr/>
    </dgm:pt>
    <dgm:pt modelId="{C7162758-E576-4CA3-B5DB-7B2ADBA624CA}" type="pres">
      <dgm:prSet presAssocID="{56722753-4BCB-495F-AEFC-1F2B22B772A9}" presName="parentLin" presStyleCnt="0"/>
      <dgm:spPr/>
    </dgm:pt>
    <dgm:pt modelId="{791BA5FC-72F0-40C8-ADBC-9472ABF0B379}" type="pres">
      <dgm:prSet presAssocID="{56722753-4BCB-495F-AEFC-1F2B22B772A9}" presName="parentLeftMargin" presStyleLbl="node1" presStyleIdx="2" presStyleCnt="7"/>
      <dgm:spPr/>
    </dgm:pt>
    <dgm:pt modelId="{C01A8608-E7BF-4DE3-9675-7A0F9ACCBD6F}" type="pres">
      <dgm:prSet presAssocID="{56722753-4BCB-495F-AEFC-1F2B22B772A9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2CACE5FD-120C-46C3-86E8-8AE7EC312FA1}" type="pres">
      <dgm:prSet presAssocID="{56722753-4BCB-495F-AEFC-1F2B22B772A9}" presName="negativeSpace" presStyleCnt="0"/>
      <dgm:spPr/>
    </dgm:pt>
    <dgm:pt modelId="{6E272963-4140-46F3-B43E-999D8F19BF0F}" type="pres">
      <dgm:prSet presAssocID="{56722753-4BCB-495F-AEFC-1F2B22B772A9}" presName="childText" presStyleLbl="conFgAcc1" presStyleIdx="3" presStyleCnt="7">
        <dgm:presLayoutVars>
          <dgm:bulletEnabled val="1"/>
        </dgm:presLayoutVars>
      </dgm:prSet>
      <dgm:spPr/>
    </dgm:pt>
    <dgm:pt modelId="{6357464D-3A6A-4654-82C1-EBCDFBA9AE09}" type="pres">
      <dgm:prSet presAssocID="{AC0169F5-F903-419E-8850-ABE9A7C78CB3}" presName="spaceBetweenRectangles" presStyleCnt="0"/>
      <dgm:spPr/>
    </dgm:pt>
    <dgm:pt modelId="{D0A3D28A-D23E-411A-95EC-1228B1D82510}" type="pres">
      <dgm:prSet presAssocID="{4795760C-00C4-4874-A30C-19C1F6348A2D}" presName="parentLin" presStyleCnt="0"/>
      <dgm:spPr/>
    </dgm:pt>
    <dgm:pt modelId="{275D7588-13FF-4A00-AD33-4B3C5DB22C61}" type="pres">
      <dgm:prSet presAssocID="{4795760C-00C4-4874-A30C-19C1F6348A2D}" presName="parentLeftMargin" presStyleLbl="node1" presStyleIdx="3" presStyleCnt="7"/>
      <dgm:spPr/>
    </dgm:pt>
    <dgm:pt modelId="{63918CD3-46B3-472B-8EBA-70F0D6D29EA6}" type="pres">
      <dgm:prSet presAssocID="{4795760C-00C4-4874-A30C-19C1F6348A2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FB557CC-913C-4F3C-A952-9592240E9927}" type="pres">
      <dgm:prSet presAssocID="{4795760C-00C4-4874-A30C-19C1F6348A2D}" presName="negativeSpace" presStyleCnt="0"/>
      <dgm:spPr/>
    </dgm:pt>
    <dgm:pt modelId="{756E708A-A973-4F0D-A7D5-EE4293A8D90F}" type="pres">
      <dgm:prSet presAssocID="{4795760C-00C4-4874-A30C-19C1F6348A2D}" presName="childText" presStyleLbl="conFgAcc1" presStyleIdx="4" presStyleCnt="7">
        <dgm:presLayoutVars>
          <dgm:bulletEnabled val="1"/>
        </dgm:presLayoutVars>
      </dgm:prSet>
      <dgm:spPr/>
    </dgm:pt>
    <dgm:pt modelId="{744347AF-FB7F-49BF-ABB5-2EECA8B55203}" type="pres">
      <dgm:prSet presAssocID="{86888518-0385-463D-9675-8127AFF46CEC}" presName="spaceBetweenRectangles" presStyleCnt="0"/>
      <dgm:spPr/>
    </dgm:pt>
    <dgm:pt modelId="{5318623F-8DEC-4C84-AEE7-0C1315261A66}" type="pres">
      <dgm:prSet presAssocID="{315C70F5-49B2-461C-8D8F-E92762BFB781}" presName="parentLin" presStyleCnt="0"/>
      <dgm:spPr/>
    </dgm:pt>
    <dgm:pt modelId="{05549267-2130-447C-A93F-D7E974141CB6}" type="pres">
      <dgm:prSet presAssocID="{315C70F5-49B2-461C-8D8F-E92762BFB781}" presName="parentLeftMargin" presStyleLbl="node1" presStyleIdx="4" presStyleCnt="7"/>
      <dgm:spPr/>
    </dgm:pt>
    <dgm:pt modelId="{02492A20-CC1E-4BDA-9E8C-63C506FFC9CA}" type="pres">
      <dgm:prSet presAssocID="{315C70F5-49B2-461C-8D8F-E92762BFB78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9E357D3-0773-4632-97B4-705CD1B5CAEB}" type="pres">
      <dgm:prSet presAssocID="{315C70F5-49B2-461C-8D8F-E92762BFB781}" presName="negativeSpace" presStyleCnt="0"/>
      <dgm:spPr/>
    </dgm:pt>
    <dgm:pt modelId="{22881E9D-0F3B-4BE7-A2C8-C50B9E24F269}" type="pres">
      <dgm:prSet presAssocID="{315C70F5-49B2-461C-8D8F-E92762BFB781}" presName="childText" presStyleLbl="conFgAcc1" presStyleIdx="5" presStyleCnt="7">
        <dgm:presLayoutVars>
          <dgm:bulletEnabled val="1"/>
        </dgm:presLayoutVars>
      </dgm:prSet>
      <dgm:spPr/>
    </dgm:pt>
    <dgm:pt modelId="{AA46EE49-0E45-4787-AB90-DCF86A490D12}" type="pres">
      <dgm:prSet presAssocID="{FE6FD2F7-A2E7-46DE-A0C8-CFF9F1A131C2}" presName="spaceBetweenRectangles" presStyleCnt="0"/>
      <dgm:spPr/>
    </dgm:pt>
    <dgm:pt modelId="{9C79A6DB-CF50-4EE4-A42F-F10ADEDFAD9C}" type="pres">
      <dgm:prSet presAssocID="{7E440A30-EF38-476A-9DDE-D2E62DA6CD4F}" presName="parentLin" presStyleCnt="0"/>
      <dgm:spPr/>
    </dgm:pt>
    <dgm:pt modelId="{18DC8F98-B875-407D-8125-3A56F1B7A374}" type="pres">
      <dgm:prSet presAssocID="{7E440A30-EF38-476A-9DDE-D2E62DA6CD4F}" presName="parentLeftMargin" presStyleLbl="node1" presStyleIdx="5" presStyleCnt="7"/>
      <dgm:spPr/>
    </dgm:pt>
    <dgm:pt modelId="{8F6807B3-3929-4D1F-A8DE-17B1BC4F543D}" type="pres">
      <dgm:prSet presAssocID="{7E440A30-EF38-476A-9DDE-D2E62DA6CD4F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02AB06E7-40DD-4033-9CD8-444834655339}" type="pres">
      <dgm:prSet presAssocID="{7E440A30-EF38-476A-9DDE-D2E62DA6CD4F}" presName="negativeSpace" presStyleCnt="0"/>
      <dgm:spPr/>
    </dgm:pt>
    <dgm:pt modelId="{7EC846B2-D133-46FF-970D-E2B4E75614CC}" type="pres">
      <dgm:prSet presAssocID="{7E440A30-EF38-476A-9DDE-D2E62DA6CD4F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1ABBF31B-526C-417F-B430-F094BC2B1DDE}" type="presOf" srcId="{7E440A30-EF38-476A-9DDE-D2E62DA6CD4F}" destId="{8F6807B3-3929-4D1F-A8DE-17B1BC4F543D}" srcOrd="1" destOrd="0" presId="urn:microsoft.com/office/officeart/2005/8/layout/list1"/>
    <dgm:cxn modelId="{B4D7631E-F0C6-4373-92B3-D116B5573809}" type="presOf" srcId="{654142F6-7218-4AB4-B6F5-9A8C0B000FFD}" destId="{A7CBF517-71E0-4F24-9925-2E679593C7C8}" srcOrd="0" destOrd="0" presId="urn:microsoft.com/office/officeart/2005/8/layout/list1"/>
    <dgm:cxn modelId="{562C8A21-4492-46D5-8D23-7C95D11BD6D7}" srcId="{7365265A-2C5D-4058-AD85-34BDF6FA6C69}" destId="{78252A1E-3FFA-4FD5-954E-3459C26AF18D}" srcOrd="2" destOrd="0" parTransId="{4BA9A024-A9D2-4C2F-95B5-35E00B43A3C4}" sibTransId="{F17DD1F5-B83E-4940-8D37-DF1CA056556B}"/>
    <dgm:cxn modelId="{B9C85E26-492A-43C7-9573-9756C30B1697}" type="presOf" srcId="{56722753-4BCB-495F-AEFC-1F2B22B772A9}" destId="{C01A8608-E7BF-4DE3-9675-7A0F9ACCBD6F}" srcOrd="1" destOrd="0" presId="urn:microsoft.com/office/officeart/2005/8/layout/list1"/>
    <dgm:cxn modelId="{3269C561-6167-46FC-A69B-6013D02097A4}" type="presOf" srcId="{ED485D2E-AD95-4D50-988D-00601E4A15DD}" destId="{E84133D7-6FAB-4F65-974D-6BB9A764F851}" srcOrd="0" destOrd="0" presId="urn:microsoft.com/office/officeart/2005/8/layout/list1"/>
    <dgm:cxn modelId="{A6103469-2F01-4823-96AC-E6CEE0958597}" type="presOf" srcId="{7E440A30-EF38-476A-9DDE-D2E62DA6CD4F}" destId="{18DC8F98-B875-407D-8125-3A56F1B7A374}" srcOrd="0" destOrd="0" presId="urn:microsoft.com/office/officeart/2005/8/layout/list1"/>
    <dgm:cxn modelId="{7712FD69-330B-4003-A01D-BC018806761E}" type="presOf" srcId="{56722753-4BCB-495F-AEFC-1F2B22B772A9}" destId="{791BA5FC-72F0-40C8-ADBC-9472ABF0B379}" srcOrd="0" destOrd="0" presId="urn:microsoft.com/office/officeart/2005/8/layout/list1"/>
    <dgm:cxn modelId="{2DD9D26A-6970-4EB4-A8AE-48FC46494B57}" srcId="{7365265A-2C5D-4058-AD85-34BDF6FA6C69}" destId="{ED485D2E-AD95-4D50-988D-00601E4A15DD}" srcOrd="0" destOrd="0" parTransId="{5101E702-7B50-404B-B5C0-6F5C3A66E57F}" sibTransId="{F1A46ADF-AE95-4DCC-B320-22E1C7F3BECE}"/>
    <dgm:cxn modelId="{87FA6A6C-FA08-4420-8790-3111B8B8A7CA}" srcId="{7365265A-2C5D-4058-AD85-34BDF6FA6C69}" destId="{56722753-4BCB-495F-AEFC-1F2B22B772A9}" srcOrd="3" destOrd="0" parTransId="{2D7D2DC4-A003-43D4-BEAE-B0A951568823}" sibTransId="{AC0169F5-F903-419E-8850-ABE9A7C78CB3}"/>
    <dgm:cxn modelId="{844DBF5A-4FEA-4FF4-8AA3-FEC644F7F316}" type="presOf" srcId="{654142F6-7218-4AB4-B6F5-9A8C0B000FFD}" destId="{2CDAE5B3-7880-49BA-AD6A-20128196C23B}" srcOrd="1" destOrd="0" presId="urn:microsoft.com/office/officeart/2005/8/layout/list1"/>
    <dgm:cxn modelId="{FA49ED7C-027F-4F2C-9029-EC656DC494AF}" type="presOf" srcId="{78252A1E-3FFA-4FD5-954E-3459C26AF18D}" destId="{02CF9F3A-3B13-4796-8BAA-125342B214BD}" srcOrd="0" destOrd="0" presId="urn:microsoft.com/office/officeart/2005/8/layout/list1"/>
    <dgm:cxn modelId="{0FA9CB83-795C-4DF5-8EFF-179C272B0207}" type="presOf" srcId="{7365265A-2C5D-4058-AD85-34BDF6FA6C69}" destId="{6E8562AB-CDA6-413F-BB3C-4435A6E5FFCC}" srcOrd="0" destOrd="0" presId="urn:microsoft.com/office/officeart/2005/8/layout/list1"/>
    <dgm:cxn modelId="{AE783588-703E-4956-8940-1616E4332591}" type="presOf" srcId="{ED485D2E-AD95-4D50-988D-00601E4A15DD}" destId="{BA79E796-993D-4676-8AAF-499E853582AA}" srcOrd="1" destOrd="0" presId="urn:microsoft.com/office/officeart/2005/8/layout/list1"/>
    <dgm:cxn modelId="{FBBEC39F-0E87-4ADE-B694-3BCDCFE040C5}" srcId="{7365265A-2C5D-4058-AD85-34BDF6FA6C69}" destId="{654142F6-7218-4AB4-B6F5-9A8C0B000FFD}" srcOrd="1" destOrd="0" parTransId="{47F646D5-D196-4775-9131-3A2EB6612AA7}" sibTransId="{9E62080A-8664-4521-A258-156CBDF3DFD2}"/>
    <dgm:cxn modelId="{0F853AA0-3BE0-439A-8D4C-975C11ED7783}" type="presOf" srcId="{315C70F5-49B2-461C-8D8F-E92762BFB781}" destId="{05549267-2130-447C-A93F-D7E974141CB6}" srcOrd="0" destOrd="0" presId="urn:microsoft.com/office/officeart/2005/8/layout/list1"/>
    <dgm:cxn modelId="{34C443A0-5E31-460A-B47D-52823BA97B77}" srcId="{7365265A-2C5D-4058-AD85-34BDF6FA6C69}" destId="{4795760C-00C4-4874-A30C-19C1F6348A2D}" srcOrd="4" destOrd="0" parTransId="{A3FF3B06-F7D9-422C-A68F-F9F358CAD4BA}" sibTransId="{86888518-0385-463D-9675-8127AFF46CEC}"/>
    <dgm:cxn modelId="{01233CBA-3E04-417E-8138-D9E12DDC7659}" type="presOf" srcId="{315C70F5-49B2-461C-8D8F-E92762BFB781}" destId="{02492A20-CC1E-4BDA-9E8C-63C506FFC9CA}" srcOrd="1" destOrd="0" presId="urn:microsoft.com/office/officeart/2005/8/layout/list1"/>
    <dgm:cxn modelId="{EF11F4C4-0C7B-4F24-AC3D-D6ABBA5A0400}" srcId="{7365265A-2C5D-4058-AD85-34BDF6FA6C69}" destId="{315C70F5-49B2-461C-8D8F-E92762BFB781}" srcOrd="5" destOrd="0" parTransId="{2CA94618-7AE7-432E-B2B3-B94195F89BFE}" sibTransId="{FE6FD2F7-A2E7-46DE-A0C8-CFF9F1A131C2}"/>
    <dgm:cxn modelId="{63A4E4D3-4023-478A-BEFC-D27110E2D3F2}" type="presOf" srcId="{4795760C-00C4-4874-A30C-19C1F6348A2D}" destId="{275D7588-13FF-4A00-AD33-4B3C5DB22C61}" srcOrd="0" destOrd="0" presId="urn:microsoft.com/office/officeart/2005/8/layout/list1"/>
    <dgm:cxn modelId="{F7EA74D4-27AE-4BE9-913C-3FF24D2E425F}" srcId="{7365265A-2C5D-4058-AD85-34BDF6FA6C69}" destId="{7E440A30-EF38-476A-9DDE-D2E62DA6CD4F}" srcOrd="6" destOrd="0" parTransId="{B0B9DD42-BF31-4795-B7BA-5A80F340BF1C}" sibTransId="{5C22D51A-CB67-4B68-ADC5-ED7FEF641697}"/>
    <dgm:cxn modelId="{2AD2F8D9-95AC-4617-A87A-1405F9697F85}" type="presOf" srcId="{78252A1E-3FFA-4FD5-954E-3459C26AF18D}" destId="{19821708-773E-4462-A661-E5F70F80DBB1}" srcOrd="1" destOrd="0" presId="urn:microsoft.com/office/officeart/2005/8/layout/list1"/>
    <dgm:cxn modelId="{3ADCD8F5-3177-4A2F-B975-33BDC7C9A503}" type="presOf" srcId="{4795760C-00C4-4874-A30C-19C1F6348A2D}" destId="{63918CD3-46B3-472B-8EBA-70F0D6D29EA6}" srcOrd="1" destOrd="0" presId="urn:microsoft.com/office/officeart/2005/8/layout/list1"/>
    <dgm:cxn modelId="{12F154DF-716E-478B-B27F-FB385412D676}" type="presParOf" srcId="{6E8562AB-CDA6-413F-BB3C-4435A6E5FFCC}" destId="{A2841AFA-5BA1-4957-98BF-67320DA050B0}" srcOrd="0" destOrd="0" presId="urn:microsoft.com/office/officeart/2005/8/layout/list1"/>
    <dgm:cxn modelId="{AC4F85F9-90E5-49D3-9E92-B56F8DBB3236}" type="presParOf" srcId="{A2841AFA-5BA1-4957-98BF-67320DA050B0}" destId="{E84133D7-6FAB-4F65-974D-6BB9A764F851}" srcOrd="0" destOrd="0" presId="urn:microsoft.com/office/officeart/2005/8/layout/list1"/>
    <dgm:cxn modelId="{507C5AE0-6820-4B6F-BD8A-E0E48130E74E}" type="presParOf" srcId="{A2841AFA-5BA1-4957-98BF-67320DA050B0}" destId="{BA79E796-993D-4676-8AAF-499E853582AA}" srcOrd="1" destOrd="0" presId="urn:microsoft.com/office/officeart/2005/8/layout/list1"/>
    <dgm:cxn modelId="{A607188B-DF99-4DEC-84E1-0EF0CB3F6DF6}" type="presParOf" srcId="{6E8562AB-CDA6-413F-BB3C-4435A6E5FFCC}" destId="{DC8B5AED-BCB5-47E8-AB48-45E29720EA5E}" srcOrd="1" destOrd="0" presId="urn:microsoft.com/office/officeart/2005/8/layout/list1"/>
    <dgm:cxn modelId="{6A13C15D-742B-440E-A9E5-6EB7896448E7}" type="presParOf" srcId="{6E8562AB-CDA6-413F-BB3C-4435A6E5FFCC}" destId="{8A5D638C-CBE9-46CB-9AA2-C0020ABFB29C}" srcOrd="2" destOrd="0" presId="urn:microsoft.com/office/officeart/2005/8/layout/list1"/>
    <dgm:cxn modelId="{D85FB26B-4C9B-4B55-8CDE-92575E32D1F8}" type="presParOf" srcId="{6E8562AB-CDA6-413F-BB3C-4435A6E5FFCC}" destId="{204A3ACA-6FAD-4959-90F7-B67FB0EAC45A}" srcOrd="3" destOrd="0" presId="urn:microsoft.com/office/officeart/2005/8/layout/list1"/>
    <dgm:cxn modelId="{3F580016-CDD3-4A5E-AB6C-CDD62BA0B4E5}" type="presParOf" srcId="{6E8562AB-CDA6-413F-BB3C-4435A6E5FFCC}" destId="{5B9C5F44-2861-4CE3-8083-3362B4200599}" srcOrd="4" destOrd="0" presId="urn:microsoft.com/office/officeart/2005/8/layout/list1"/>
    <dgm:cxn modelId="{207EACA8-CAE4-4AA6-84B8-DE716CBE0D9E}" type="presParOf" srcId="{5B9C5F44-2861-4CE3-8083-3362B4200599}" destId="{A7CBF517-71E0-4F24-9925-2E679593C7C8}" srcOrd="0" destOrd="0" presId="urn:microsoft.com/office/officeart/2005/8/layout/list1"/>
    <dgm:cxn modelId="{7D4A4610-48EA-4A0D-BDE5-63ACC8F994BC}" type="presParOf" srcId="{5B9C5F44-2861-4CE3-8083-3362B4200599}" destId="{2CDAE5B3-7880-49BA-AD6A-20128196C23B}" srcOrd="1" destOrd="0" presId="urn:microsoft.com/office/officeart/2005/8/layout/list1"/>
    <dgm:cxn modelId="{249DAF91-7D55-467F-9577-BEEE499759E3}" type="presParOf" srcId="{6E8562AB-CDA6-413F-BB3C-4435A6E5FFCC}" destId="{76F41D53-B473-4DEE-BA70-E11A64C35090}" srcOrd="5" destOrd="0" presId="urn:microsoft.com/office/officeart/2005/8/layout/list1"/>
    <dgm:cxn modelId="{67147E74-EB58-4F6D-92EF-61228730CC62}" type="presParOf" srcId="{6E8562AB-CDA6-413F-BB3C-4435A6E5FFCC}" destId="{B6A40E31-018D-4B56-8A49-7A93EA6A0FBD}" srcOrd="6" destOrd="0" presId="urn:microsoft.com/office/officeart/2005/8/layout/list1"/>
    <dgm:cxn modelId="{CE03CB43-80DC-4F44-8F14-9EE7E3835072}" type="presParOf" srcId="{6E8562AB-CDA6-413F-BB3C-4435A6E5FFCC}" destId="{23DFBC4C-9F89-4EEF-9461-C54D4C1E3354}" srcOrd="7" destOrd="0" presId="urn:microsoft.com/office/officeart/2005/8/layout/list1"/>
    <dgm:cxn modelId="{2165B0AB-B367-455C-A1B4-57E177B20B03}" type="presParOf" srcId="{6E8562AB-CDA6-413F-BB3C-4435A6E5FFCC}" destId="{ADD00D86-8428-4461-9EBE-4017639A3A07}" srcOrd="8" destOrd="0" presId="urn:microsoft.com/office/officeart/2005/8/layout/list1"/>
    <dgm:cxn modelId="{1C7F4CA0-7DBD-4142-9CC0-67B5AB911C10}" type="presParOf" srcId="{ADD00D86-8428-4461-9EBE-4017639A3A07}" destId="{02CF9F3A-3B13-4796-8BAA-125342B214BD}" srcOrd="0" destOrd="0" presId="urn:microsoft.com/office/officeart/2005/8/layout/list1"/>
    <dgm:cxn modelId="{FE313B1E-13B2-490B-81E9-354FE716E268}" type="presParOf" srcId="{ADD00D86-8428-4461-9EBE-4017639A3A07}" destId="{19821708-773E-4462-A661-E5F70F80DBB1}" srcOrd="1" destOrd="0" presId="urn:microsoft.com/office/officeart/2005/8/layout/list1"/>
    <dgm:cxn modelId="{CDAD74D4-692D-4061-81B0-5D7814A1F4E3}" type="presParOf" srcId="{6E8562AB-CDA6-413F-BB3C-4435A6E5FFCC}" destId="{E91B506C-D6FC-4E8C-8E20-CAC7451A7749}" srcOrd="9" destOrd="0" presId="urn:microsoft.com/office/officeart/2005/8/layout/list1"/>
    <dgm:cxn modelId="{7A80D77D-32EF-4F15-B557-ED4079CACB35}" type="presParOf" srcId="{6E8562AB-CDA6-413F-BB3C-4435A6E5FFCC}" destId="{2B730A2B-5149-4122-9C26-C05624E58AFC}" srcOrd="10" destOrd="0" presId="urn:microsoft.com/office/officeart/2005/8/layout/list1"/>
    <dgm:cxn modelId="{C3942142-E90F-468F-9D29-160ECBDE601C}" type="presParOf" srcId="{6E8562AB-CDA6-413F-BB3C-4435A6E5FFCC}" destId="{48034A25-6D54-407E-8927-14644B2C44C1}" srcOrd="11" destOrd="0" presId="urn:microsoft.com/office/officeart/2005/8/layout/list1"/>
    <dgm:cxn modelId="{CF9E9FA4-E4F0-42EE-8117-FF47B24DAD17}" type="presParOf" srcId="{6E8562AB-CDA6-413F-BB3C-4435A6E5FFCC}" destId="{C7162758-E576-4CA3-B5DB-7B2ADBA624CA}" srcOrd="12" destOrd="0" presId="urn:microsoft.com/office/officeart/2005/8/layout/list1"/>
    <dgm:cxn modelId="{C8AFC7CE-DCA5-4FB3-AB5B-E0FF482C1736}" type="presParOf" srcId="{C7162758-E576-4CA3-B5DB-7B2ADBA624CA}" destId="{791BA5FC-72F0-40C8-ADBC-9472ABF0B379}" srcOrd="0" destOrd="0" presId="urn:microsoft.com/office/officeart/2005/8/layout/list1"/>
    <dgm:cxn modelId="{21108CDD-45F9-4BC1-A6F4-D8046BD8354B}" type="presParOf" srcId="{C7162758-E576-4CA3-B5DB-7B2ADBA624CA}" destId="{C01A8608-E7BF-4DE3-9675-7A0F9ACCBD6F}" srcOrd="1" destOrd="0" presId="urn:microsoft.com/office/officeart/2005/8/layout/list1"/>
    <dgm:cxn modelId="{1F6A5618-9EF0-4FDF-A65C-498D7603B7AE}" type="presParOf" srcId="{6E8562AB-CDA6-413F-BB3C-4435A6E5FFCC}" destId="{2CACE5FD-120C-46C3-86E8-8AE7EC312FA1}" srcOrd="13" destOrd="0" presId="urn:microsoft.com/office/officeart/2005/8/layout/list1"/>
    <dgm:cxn modelId="{946BFA00-2C11-4DA5-97B7-65BD32A350A6}" type="presParOf" srcId="{6E8562AB-CDA6-413F-BB3C-4435A6E5FFCC}" destId="{6E272963-4140-46F3-B43E-999D8F19BF0F}" srcOrd="14" destOrd="0" presId="urn:microsoft.com/office/officeart/2005/8/layout/list1"/>
    <dgm:cxn modelId="{A50A5317-CFF3-4F2F-872C-A51916299E95}" type="presParOf" srcId="{6E8562AB-CDA6-413F-BB3C-4435A6E5FFCC}" destId="{6357464D-3A6A-4654-82C1-EBCDFBA9AE09}" srcOrd="15" destOrd="0" presId="urn:microsoft.com/office/officeart/2005/8/layout/list1"/>
    <dgm:cxn modelId="{E3B10FE5-173E-46FC-ABB6-E75D4A57CC06}" type="presParOf" srcId="{6E8562AB-CDA6-413F-BB3C-4435A6E5FFCC}" destId="{D0A3D28A-D23E-411A-95EC-1228B1D82510}" srcOrd="16" destOrd="0" presId="urn:microsoft.com/office/officeart/2005/8/layout/list1"/>
    <dgm:cxn modelId="{4C07A3FF-5199-4DBE-8864-B4DFA9529026}" type="presParOf" srcId="{D0A3D28A-D23E-411A-95EC-1228B1D82510}" destId="{275D7588-13FF-4A00-AD33-4B3C5DB22C61}" srcOrd="0" destOrd="0" presId="urn:microsoft.com/office/officeart/2005/8/layout/list1"/>
    <dgm:cxn modelId="{3B2DDCAC-1434-4E63-9413-4607D0985651}" type="presParOf" srcId="{D0A3D28A-D23E-411A-95EC-1228B1D82510}" destId="{63918CD3-46B3-472B-8EBA-70F0D6D29EA6}" srcOrd="1" destOrd="0" presId="urn:microsoft.com/office/officeart/2005/8/layout/list1"/>
    <dgm:cxn modelId="{A12AFCEC-E268-48DB-BA30-B0832EF601F4}" type="presParOf" srcId="{6E8562AB-CDA6-413F-BB3C-4435A6E5FFCC}" destId="{5FB557CC-913C-4F3C-A952-9592240E9927}" srcOrd="17" destOrd="0" presId="urn:microsoft.com/office/officeart/2005/8/layout/list1"/>
    <dgm:cxn modelId="{DD2F18F8-0D99-4852-92D0-57331A977797}" type="presParOf" srcId="{6E8562AB-CDA6-413F-BB3C-4435A6E5FFCC}" destId="{756E708A-A973-4F0D-A7D5-EE4293A8D90F}" srcOrd="18" destOrd="0" presId="urn:microsoft.com/office/officeart/2005/8/layout/list1"/>
    <dgm:cxn modelId="{CAB2FF44-2042-4C8E-89BF-DDB5948F8457}" type="presParOf" srcId="{6E8562AB-CDA6-413F-BB3C-4435A6E5FFCC}" destId="{744347AF-FB7F-49BF-ABB5-2EECA8B55203}" srcOrd="19" destOrd="0" presId="urn:microsoft.com/office/officeart/2005/8/layout/list1"/>
    <dgm:cxn modelId="{FA4D4100-C09A-4B2D-B0D0-CEF18EF7E49E}" type="presParOf" srcId="{6E8562AB-CDA6-413F-BB3C-4435A6E5FFCC}" destId="{5318623F-8DEC-4C84-AEE7-0C1315261A66}" srcOrd="20" destOrd="0" presId="urn:microsoft.com/office/officeart/2005/8/layout/list1"/>
    <dgm:cxn modelId="{BCA07C7E-D6B0-4D7C-8E8F-40632984BF72}" type="presParOf" srcId="{5318623F-8DEC-4C84-AEE7-0C1315261A66}" destId="{05549267-2130-447C-A93F-D7E974141CB6}" srcOrd="0" destOrd="0" presId="urn:microsoft.com/office/officeart/2005/8/layout/list1"/>
    <dgm:cxn modelId="{B0B24FB9-F717-45B0-A843-E91ACA54B322}" type="presParOf" srcId="{5318623F-8DEC-4C84-AEE7-0C1315261A66}" destId="{02492A20-CC1E-4BDA-9E8C-63C506FFC9CA}" srcOrd="1" destOrd="0" presId="urn:microsoft.com/office/officeart/2005/8/layout/list1"/>
    <dgm:cxn modelId="{8F3710DF-C34B-481B-9991-CFF078B726F0}" type="presParOf" srcId="{6E8562AB-CDA6-413F-BB3C-4435A6E5FFCC}" destId="{59E357D3-0773-4632-97B4-705CD1B5CAEB}" srcOrd="21" destOrd="0" presId="urn:microsoft.com/office/officeart/2005/8/layout/list1"/>
    <dgm:cxn modelId="{3A43F70B-D73E-4C92-86F5-F6035049E462}" type="presParOf" srcId="{6E8562AB-CDA6-413F-BB3C-4435A6E5FFCC}" destId="{22881E9D-0F3B-4BE7-A2C8-C50B9E24F269}" srcOrd="22" destOrd="0" presId="urn:microsoft.com/office/officeart/2005/8/layout/list1"/>
    <dgm:cxn modelId="{C7175B27-90CD-4399-993D-045CF1B5B067}" type="presParOf" srcId="{6E8562AB-CDA6-413F-BB3C-4435A6E5FFCC}" destId="{AA46EE49-0E45-4787-AB90-DCF86A490D12}" srcOrd="23" destOrd="0" presId="urn:microsoft.com/office/officeart/2005/8/layout/list1"/>
    <dgm:cxn modelId="{0D3AD42C-B100-4EDC-AB56-1F4A5AE99FB8}" type="presParOf" srcId="{6E8562AB-CDA6-413F-BB3C-4435A6E5FFCC}" destId="{9C79A6DB-CF50-4EE4-A42F-F10ADEDFAD9C}" srcOrd="24" destOrd="0" presId="urn:microsoft.com/office/officeart/2005/8/layout/list1"/>
    <dgm:cxn modelId="{853F4997-ABC6-4276-8DB6-9D0706376E25}" type="presParOf" srcId="{9C79A6DB-CF50-4EE4-A42F-F10ADEDFAD9C}" destId="{18DC8F98-B875-407D-8125-3A56F1B7A374}" srcOrd="0" destOrd="0" presId="urn:microsoft.com/office/officeart/2005/8/layout/list1"/>
    <dgm:cxn modelId="{D58B1D0C-5D9A-4C05-A587-6B822C391D87}" type="presParOf" srcId="{9C79A6DB-CF50-4EE4-A42F-F10ADEDFAD9C}" destId="{8F6807B3-3929-4D1F-A8DE-17B1BC4F543D}" srcOrd="1" destOrd="0" presId="urn:microsoft.com/office/officeart/2005/8/layout/list1"/>
    <dgm:cxn modelId="{D475A606-74A8-4BC7-9D7C-CAD2BA61149D}" type="presParOf" srcId="{6E8562AB-CDA6-413F-BB3C-4435A6E5FFCC}" destId="{02AB06E7-40DD-4033-9CD8-444834655339}" srcOrd="25" destOrd="0" presId="urn:microsoft.com/office/officeart/2005/8/layout/list1"/>
    <dgm:cxn modelId="{0888F568-4491-4BBA-866C-D43837EAEA32}" type="presParOf" srcId="{6E8562AB-CDA6-413F-BB3C-4435A6E5FFCC}" destId="{7EC846B2-D133-46FF-970D-E2B4E75614CC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5D4A3F5-9EEB-4F88-AF38-42F3D97679C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3742F78-3E6B-4B36-8129-588ECF171F50}">
      <dgm:prSet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EV adoption is steadily increasing, with rapid growth expected by 2030.</a:t>
          </a:r>
        </a:p>
      </dgm:t>
    </dgm:pt>
    <dgm:pt modelId="{26A8FB8D-60AE-4394-937E-ACA512642E0D}" type="parTrans" cxnId="{27B15885-0474-4FAD-AB6E-31D551A4F025}">
      <dgm:prSet/>
      <dgm:spPr/>
      <dgm:t>
        <a:bodyPr/>
        <a:lstStyle/>
        <a:p>
          <a:endParaRPr lang="en-IN"/>
        </a:p>
      </dgm:t>
    </dgm:pt>
    <dgm:pt modelId="{D8CEFE26-D109-4A8E-9378-59F80E66DF99}" type="sibTrans" cxnId="{27B15885-0474-4FAD-AB6E-31D551A4F025}">
      <dgm:prSet/>
      <dgm:spPr/>
      <dgm:t>
        <a:bodyPr/>
        <a:lstStyle/>
        <a:p>
          <a:endParaRPr lang="en-IN"/>
        </a:p>
      </dgm:t>
    </dgm:pt>
    <dgm:pt modelId="{569FAAD2-DC4C-4978-A37E-E5A3E1D4A709}">
      <dgm:prSet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/>
            <a:t>BEVs now make up over 50% of total EVs.</a:t>
          </a:r>
        </a:p>
      </dgm:t>
    </dgm:pt>
    <dgm:pt modelId="{8E530115-16AE-47BB-B663-3D175D1091CD}" type="parTrans" cxnId="{7CD781A9-6BAC-415B-A886-6D7F99479011}">
      <dgm:prSet/>
      <dgm:spPr/>
      <dgm:t>
        <a:bodyPr/>
        <a:lstStyle/>
        <a:p>
          <a:endParaRPr lang="en-IN"/>
        </a:p>
      </dgm:t>
    </dgm:pt>
    <dgm:pt modelId="{684C9ADB-2F9D-4C9F-98BD-F39F3CCD1768}" type="sibTrans" cxnId="{7CD781A9-6BAC-415B-A886-6D7F99479011}">
      <dgm:prSet/>
      <dgm:spPr/>
      <dgm:t>
        <a:bodyPr/>
        <a:lstStyle/>
        <a:p>
          <a:endParaRPr lang="en-IN"/>
        </a:p>
      </dgm:t>
    </dgm:pt>
    <dgm:pt modelId="{A0165150-2994-49D8-93D5-E512B95E3CA8}">
      <dgm:prSet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/>
            <a:t>Tesla, Nissan, and Chevrolet are leading EV adoption across major regions.</a:t>
          </a:r>
        </a:p>
      </dgm:t>
    </dgm:pt>
    <dgm:pt modelId="{459D534E-A53A-4123-8F37-80808943A571}" type="parTrans" cxnId="{1EC5F2F0-1AD8-418C-AA9C-7F4492BF4E8D}">
      <dgm:prSet/>
      <dgm:spPr/>
      <dgm:t>
        <a:bodyPr/>
        <a:lstStyle/>
        <a:p>
          <a:endParaRPr lang="en-IN"/>
        </a:p>
      </dgm:t>
    </dgm:pt>
    <dgm:pt modelId="{5081FCB9-E964-480D-92FF-708CED2BA0F0}" type="sibTrans" cxnId="{1EC5F2F0-1AD8-418C-AA9C-7F4492BF4E8D}">
      <dgm:prSet/>
      <dgm:spPr/>
      <dgm:t>
        <a:bodyPr/>
        <a:lstStyle/>
        <a:p>
          <a:endParaRPr lang="en-IN"/>
        </a:p>
      </dgm:t>
    </dgm:pt>
    <dgm:pt modelId="{86646072-0764-445C-97D8-60717D4CED7B}">
      <dgm:prSet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Strong correlation between electric range and vehicle cost.</a:t>
          </a:r>
        </a:p>
      </dgm:t>
    </dgm:pt>
    <dgm:pt modelId="{A53537B9-6641-4EC5-83C3-EFA5F95E54EB}" type="parTrans" cxnId="{22A54F6B-581C-4F60-A81C-7CBDC025157D}">
      <dgm:prSet/>
      <dgm:spPr/>
      <dgm:t>
        <a:bodyPr/>
        <a:lstStyle/>
        <a:p>
          <a:endParaRPr lang="en-IN"/>
        </a:p>
      </dgm:t>
    </dgm:pt>
    <dgm:pt modelId="{E28C6B11-5E3B-4490-98AE-CD8A3CCAED31}" type="sibTrans" cxnId="{22A54F6B-581C-4F60-A81C-7CBDC025157D}">
      <dgm:prSet/>
      <dgm:spPr/>
      <dgm:t>
        <a:bodyPr/>
        <a:lstStyle/>
        <a:p>
          <a:endParaRPr lang="en-IN"/>
        </a:p>
      </dgm:t>
    </dgm:pt>
    <dgm:pt modelId="{12568003-26BA-4A45-8B74-326458817FBB}">
      <dgm:prSet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This reflects the accelerating shift toward sustainable transportation.</a:t>
          </a:r>
        </a:p>
      </dgm:t>
    </dgm:pt>
    <dgm:pt modelId="{BCC0D41F-D9CC-4B02-9DB5-7A9F536FAFE6}" type="parTrans" cxnId="{7D1E03FA-81F9-42BA-9859-EE0A0E2187F7}">
      <dgm:prSet/>
      <dgm:spPr/>
      <dgm:t>
        <a:bodyPr/>
        <a:lstStyle/>
        <a:p>
          <a:endParaRPr lang="en-IN"/>
        </a:p>
      </dgm:t>
    </dgm:pt>
    <dgm:pt modelId="{9D0EC573-A203-41A5-AC6D-3CB78D7EE945}" type="sibTrans" cxnId="{7D1E03FA-81F9-42BA-9859-EE0A0E2187F7}">
      <dgm:prSet/>
      <dgm:spPr/>
      <dgm:t>
        <a:bodyPr/>
        <a:lstStyle/>
        <a:p>
          <a:endParaRPr lang="en-IN"/>
        </a:p>
      </dgm:t>
    </dgm:pt>
    <dgm:pt modelId="{4CA20C46-2213-47E1-921E-C5825FACD8AE}" type="pres">
      <dgm:prSet presAssocID="{35D4A3F5-9EEB-4F88-AF38-42F3D97679C5}" presName="linear" presStyleCnt="0">
        <dgm:presLayoutVars>
          <dgm:animLvl val="lvl"/>
          <dgm:resizeHandles val="exact"/>
        </dgm:presLayoutVars>
      </dgm:prSet>
      <dgm:spPr/>
    </dgm:pt>
    <dgm:pt modelId="{4B9EBD1F-114C-4128-A11E-8DF886DE30DD}" type="pres">
      <dgm:prSet presAssocID="{43742F78-3E6B-4B36-8129-588ECF171F5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57EC7D4-F4E4-43F0-84FF-3A44ACE463FC}" type="pres">
      <dgm:prSet presAssocID="{D8CEFE26-D109-4A8E-9378-59F80E66DF99}" presName="spacer" presStyleCnt="0"/>
      <dgm:spPr/>
    </dgm:pt>
    <dgm:pt modelId="{004657FE-3133-4E4A-A74E-5506A3262F55}" type="pres">
      <dgm:prSet presAssocID="{569FAAD2-DC4C-4978-A37E-E5A3E1D4A70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EE99BDE-8596-4E91-9A25-C52ECE3B6D92}" type="pres">
      <dgm:prSet presAssocID="{684C9ADB-2F9D-4C9F-98BD-F39F3CCD1768}" presName="spacer" presStyleCnt="0"/>
      <dgm:spPr/>
    </dgm:pt>
    <dgm:pt modelId="{B40972CC-2CDC-4031-BA2E-A12EBECD88BA}" type="pres">
      <dgm:prSet presAssocID="{A0165150-2994-49D8-93D5-E512B95E3CA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D6D7A84-6E58-48F1-B265-0127780FE4E2}" type="pres">
      <dgm:prSet presAssocID="{5081FCB9-E964-480D-92FF-708CED2BA0F0}" presName="spacer" presStyleCnt="0"/>
      <dgm:spPr/>
    </dgm:pt>
    <dgm:pt modelId="{2161C9D9-0C90-438A-B571-4B71EE29FEFF}" type="pres">
      <dgm:prSet presAssocID="{86646072-0764-445C-97D8-60717D4CED7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481A24B-917F-46F1-815C-E9F540288766}" type="pres">
      <dgm:prSet presAssocID="{E28C6B11-5E3B-4490-98AE-CD8A3CCAED31}" presName="spacer" presStyleCnt="0"/>
      <dgm:spPr/>
    </dgm:pt>
    <dgm:pt modelId="{5D124D82-13AA-4B8E-93EA-3CC9D888FB7A}" type="pres">
      <dgm:prSet presAssocID="{12568003-26BA-4A45-8B74-326458817FB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0F5520F-49E2-47E5-95EF-5F098FF9186E}" type="presOf" srcId="{A0165150-2994-49D8-93D5-E512B95E3CA8}" destId="{B40972CC-2CDC-4031-BA2E-A12EBECD88BA}" srcOrd="0" destOrd="0" presId="urn:microsoft.com/office/officeart/2005/8/layout/vList2"/>
    <dgm:cxn modelId="{8E8AA01E-7807-41D0-A417-40DC0473C28C}" type="presOf" srcId="{43742F78-3E6B-4B36-8129-588ECF171F50}" destId="{4B9EBD1F-114C-4128-A11E-8DF886DE30DD}" srcOrd="0" destOrd="0" presId="urn:microsoft.com/office/officeart/2005/8/layout/vList2"/>
    <dgm:cxn modelId="{51C99025-0437-42DE-AF5E-03F33795A282}" type="presOf" srcId="{35D4A3F5-9EEB-4F88-AF38-42F3D97679C5}" destId="{4CA20C46-2213-47E1-921E-C5825FACD8AE}" srcOrd="0" destOrd="0" presId="urn:microsoft.com/office/officeart/2005/8/layout/vList2"/>
    <dgm:cxn modelId="{22A54F6B-581C-4F60-A81C-7CBDC025157D}" srcId="{35D4A3F5-9EEB-4F88-AF38-42F3D97679C5}" destId="{86646072-0764-445C-97D8-60717D4CED7B}" srcOrd="3" destOrd="0" parTransId="{A53537B9-6641-4EC5-83C3-EFA5F95E54EB}" sibTransId="{E28C6B11-5E3B-4490-98AE-CD8A3CCAED31}"/>
    <dgm:cxn modelId="{27B15885-0474-4FAD-AB6E-31D551A4F025}" srcId="{35D4A3F5-9EEB-4F88-AF38-42F3D97679C5}" destId="{43742F78-3E6B-4B36-8129-588ECF171F50}" srcOrd="0" destOrd="0" parTransId="{26A8FB8D-60AE-4394-937E-ACA512642E0D}" sibTransId="{D8CEFE26-D109-4A8E-9378-59F80E66DF99}"/>
    <dgm:cxn modelId="{A4C0059E-1711-458E-934D-F2FCE6CE2574}" type="presOf" srcId="{569FAAD2-DC4C-4978-A37E-E5A3E1D4A709}" destId="{004657FE-3133-4E4A-A74E-5506A3262F55}" srcOrd="0" destOrd="0" presId="urn:microsoft.com/office/officeart/2005/8/layout/vList2"/>
    <dgm:cxn modelId="{7CD781A9-6BAC-415B-A886-6D7F99479011}" srcId="{35D4A3F5-9EEB-4F88-AF38-42F3D97679C5}" destId="{569FAAD2-DC4C-4978-A37E-E5A3E1D4A709}" srcOrd="1" destOrd="0" parTransId="{8E530115-16AE-47BB-B663-3D175D1091CD}" sibTransId="{684C9ADB-2F9D-4C9F-98BD-F39F3CCD1768}"/>
    <dgm:cxn modelId="{7D8D87B0-D32D-434E-B6CC-643AB4C02847}" type="presOf" srcId="{86646072-0764-445C-97D8-60717D4CED7B}" destId="{2161C9D9-0C90-438A-B571-4B71EE29FEFF}" srcOrd="0" destOrd="0" presId="urn:microsoft.com/office/officeart/2005/8/layout/vList2"/>
    <dgm:cxn modelId="{1EC5F2F0-1AD8-418C-AA9C-7F4492BF4E8D}" srcId="{35D4A3F5-9EEB-4F88-AF38-42F3D97679C5}" destId="{A0165150-2994-49D8-93D5-E512B95E3CA8}" srcOrd="2" destOrd="0" parTransId="{459D534E-A53A-4123-8F37-80808943A571}" sibTransId="{5081FCB9-E964-480D-92FF-708CED2BA0F0}"/>
    <dgm:cxn modelId="{7D1E03FA-81F9-42BA-9859-EE0A0E2187F7}" srcId="{35D4A3F5-9EEB-4F88-AF38-42F3D97679C5}" destId="{12568003-26BA-4A45-8B74-326458817FBB}" srcOrd="4" destOrd="0" parTransId="{BCC0D41F-D9CC-4B02-9DB5-7A9F536FAFE6}" sibTransId="{9D0EC573-A203-41A5-AC6D-3CB78D7EE945}"/>
    <dgm:cxn modelId="{AC8AC6FF-90E1-4553-B3FA-967E60119E10}" type="presOf" srcId="{12568003-26BA-4A45-8B74-326458817FBB}" destId="{5D124D82-13AA-4B8E-93EA-3CC9D888FB7A}" srcOrd="0" destOrd="0" presId="urn:microsoft.com/office/officeart/2005/8/layout/vList2"/>
    <dgm:cxn modelId="{18A9E25B-FFF8-46D7-AF99-3D217F7CDD95}" type="presParOf" srcId="{4CA20C46-2213-47E1-921E-C5825FACD8AE}" destId="{4B9EBD1F-114C-4128-A11E-8DF886DE30DD}" srcOrd="0" destOrd="0" presId="urn:microsoft.com/office/officeart/2005/8/layout/vList2"/>
    <dgm:cxn modelId="{E6616A93-8F87-4275-A120-F91C31B83088}" type="presParOf" srcId="{4CA20C46-2213-47E1-921E-C5825FACD8AE}" destId="{557EC7D4-F4E4-43F0-84FF-3A44ACE463FC}" srcOrd="1" destOrd="0" presId="urn:microsoft.com/office/officeart/2005/8/layout/vList2"/>
    <dgm:cxn modelId="{900DA6A2-5526-4461-B0D4-D1DC669F99F3}" type="presParOf" srcId="{4CA20C46-2213-47E1-921E-C5825FACD8AE}" destId="{004657FE-3133-4E4A-A74E-5506A3262F55}" srcOrd="2" destOrd="0" presId="urn:microsoft.com/office/officeart/2005/8/layout/vList2"/>
    <dgm:cxn modelId="{5826068F-0616-44BE-9EA6-B7F1A79AB227}" type="presParOf" srcId="{4CA20C46-2213-47E1-921E-C5825FACD8AE}" destId="{2EE99BDE-8596-4E91-9A25-C52ECE3B6D92}" srcOrd="3" destOrd="0" presId="urn:microsoft.com/office/officeart/2005/8/layout/vList2"/>
    <dgm:cxn modelId="{E6E0104D-8A26-44E1-A36D-B0054BFB1FFD}" type="presParOf" srcId="{4CA20C46-2213-47E1-921E-C5825FACD8AE}" destId="{B40972CC-2CDC-4031-BA2E-A12EBECD88BA}" srcOrd="4" destOrd="0" presId="urn:microsoft.com/office/officeart/2005/8/layout/vList2"/>
    <dgm:cxn modelId="{516068F5-9364-4166-B367-C4688C91AA47}" type="presParOf" srcId="{4CA20C46-2213-47E1-921E-C5825FACD8AE}" destId="{5D6D7A84-6E58-48F1-B265-0127780FE4E2}" srcOrd="5" destOrd="0" presId="urn:microsoft.com/office/officeart/2005/8/layout/vList2"/>
    <dgm:cxn modelId="{D5AD4523-72AB-4702-A220-1E766B165223}" type="presParOf" srcId="{4CA20C46-2213-47E1-921E-C5825FACD8AE}" destId="{2161C9D9-0C90-438A-B571-4B71EE29FEFF}" srcOrd="6" destOrd="0" presId="urn:microsoft.com/office/officeart/2005/8/layout/vList2"/>
    <dgm:cxn modelId="{E32A54C5-D5A7-40BC-A06E-D360A039522E}" type="presParOf" srcId="{4CA20C46-2213-47E1-921E-C5825FACD8AE}" destId="{F481A24B-917F-46F1-815C-E9F540288766}" srcOrd="7" destOrd="0" presId="urn:microsoft.com/office/officeart/2005/8/layout/vList2"/>
    <dgm:cxn modelId="{6C8BECD5-2B0A-43AA-BB39-406DC9785C81}" type="presParOf" srcId="{4CA20C46-2213-47E1-921E-C5825FACD8AE}" destId="{5D124D82-13AA-4B8E-93EA-3CC9D888FB7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CAF5CC-040A-45D2-800F-D87C5FE35DA0}">
      <dsp:nvSpPr>
        <dsp:cNvPr id="0" name=""/>
        <dsp:cNvSpPr/>
      </dsp:nvSpPr>
      <dsp:spPr>
        <a:xfrm>
          <a:off x="0" y="111801"/>
          <a:ext cx="8229600" cy="676260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The Electric Vehicle (EV) Market Insights Dashboard visualizes EV growth, adoption trends, and brand performance.</a:t>
          </a:r>
        </a:p>
      </dsp:txBody>
      <dsp:txXfrm>
        <a:off x="33012" y="144813"/>
        <a:ext cx="8163576" cy="610236"/>
      </dsp:txXfrm>
    </dsp:sp>
    <dsp:sp modelId="{C792677A-830D-4FBC-8478-BFCD8365A482}">
      <dsp:nvSpPr>
        <dsp:cNvPr id="0" name=""/>
        <dsp:cNvSpPr/>
      </dsp:nvSpPr>
      <dsp:spPr>
        <a:xfrm>
          <a:off x="0" y="837021"/>
          <a:ext cx="8229600" cy="676260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This project demonstrates my ability to clean, analyse, and visualize real-world sustainability data using Python and Power BI.</a:t>
          </a:r>
        </a:p>
      </dsp:txBody>
      <dsp:txXfrm>
        <a:off x="33012" y="870033"/>
        <a:ext cx="8163576" cy="610236"/>
      </dsp:txXfrm>
    </dsp:sp>
    <dsp:sp modelId="{151B7599-FBB5-444F-9639-8F8868EB4452}">
      <dsp:nvSpPr>
        <dsp:cNvPr id="0" name=""/>
        <dsp:cNvSpPr/>
      </dsp:nvSpPr>
      <dsp:spPr>
        <a:xfrm>
          <a:off x="0" y="1562241"/>
          <a:ext cx="8229600" cy="676260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Objective:</a:t>
          </a:r>
        </a:p>
      </dsp:txBody>
      <dsp:txXfrm>
        <a:off x="33012" y="1595253"/>
        <a:ext cx="8163576" cy="610236"/>
      </dsp:txXfrm>
    </dsp:sp>
    <dsp:sp modelId="{E9C1E78B-2E6A-41FE-AC91-A8248212EC97}">
      <dsp:nvSpPr>
        <dsp:cNvPr id="0" name=""/>
        <dsp:cNvSpPr/>
      </dsp:nvSpPr>
      <dsp:spPr>
        <a:xfrm>
          <a:off x="0" y="2287461"/>
          <a:ext cx="8229600" cy="676260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• Understand global EV adoption trends</a:t>
          </a:r>
        </a:p>
      </dsp:txBody>
      <dsp:txXfrm>
        <a:off x="33012" y="2320473"/>
        <a:ext cx="8163576" cy="610236"/>
      </dsp:txXfrm>
    </dsp:sp>
    <dsp:sp modelId="{158A612D-8295-48E5-9DE4-6D7E8FF93082}">
      <dsp:nvSpPr>
        <dsp:cNvPr id="0" name=""/>
        <dsp:cNvSpPr/>
      </dsp:nvSpPr>
      <dsp:spPr>
        <a:xfrm>
          <a:off x="0" y="3012681"/>
          <a:ext cx="8229600" cy="676260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• Compare BEVs vs PHEVs market share</a:t>
          </a:r>
        </a:p>
      </dsp:txBody>
      <dsp:txXfrm>
        <a:off x="33012" y="3045693"/>
        <a:ext cx="8163576" cy="610236"/>
      </dsp:txXfrm>
    </dsp:sp>
    <dsp:sp modelId="{354C4F9A-A7FD-40E1-944D-9871FA549283}">
      <dsp:nvSpPr>
        <dsp:cNvPr id="0" name=""/>
        <dsp:cNvSpPr/>
      </dsp:nvSpPr>
      <dsp:spPr>
        <a:xfrm>
          <a:off x="0" y="3737901"/>
          <a:ext cx="8229600" cy="676260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• Identify top-performing EV brands and regions</a:t>
          </a:r>
        </a:p>
      </dsp:txBody>
      <dsp:txXfrm>
        <a:off x="33012" y="3770913"/>
        <a:ext cx="8163576" cy="610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5D638C-CBE9-46CB-9AA2-C0020ABFB29C}">
      <dsp:nvSpPr>
        <dsp:cNvPr id="0" name=""/>
        <dsp:cNvSpPr/>
      </dsp:nvSpPr>
      <dsp:spPr>
        <a:xfrm>
          <a:off x="0" y="325045"/>
          <a:ext cx="82296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9E796-993D-4676-8AAF-499E853582AA}">
      <dsp:nvSpPr>
        <dsp:cNvPr id="0" name=""/>
        <dsp:cNvSpPr/>
      </dsp:nvSpPr>
      <dsp:spPr>
        <a:xfrm>
          <a:off x="411480" y="103645"/>
          <a:ext cx="57607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Dashboard Features:</a:t>
          </a:r>
        </a:p>
      </dsp:txBody>
      <dsp:txXfrm>
        <a:off x="433096" y="125261"/>
        <a:ext cx="5717488" cy="399568"/>
      </dsp:txXfrm>
    </dsp:sp>
    <dsp:sp modelId="{B6A40E31-018D-4B56-8A49-7A93EA6A0FBD}">
      <dsp:nvSpPr>
        <dsp:cNvPr id="0" name=""/>
        <dsp:cNvSpPr/>
      </dsp:nvSpPr>
      <dsp:spPr>
        <a:xfrm>
          <a:off x="0" y="1005445"/>
          <a:ext cx="82296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DAE5B3-7880-49BA-AD6A-20128196C23B}">
      <dsp:nvSpPr>
        <dsp:cNvPr id="0" name=""/>
        <dsp:cNvSpPr/>
      </dsp:nvSpPr>
      <dsp:spPr>
        <a:xfrm>
          <a:off x="411480" y="784045"/>
          <a:ext cx="57607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KPI Cards: Total EVs, Average Range, BEV Share</a:t>
          </a:r>
        </a:p>
      </dsp:txBody>
      <dsp:txXfrm>
        <a:off x="433096" y="805661"/>
        <a:ext cx="5717488" cy="399568"/>
      </dsp:txXfrm>
    </dsp:sp>
    <dsp:sp modelId="{2B730A2B-5149-4122-9C26-C05624E58AFC}">
      <dsp:nvSpPr>
        <dsp:cNvPr id="0" name=""/>
        <dsp:cNvSpPr/>
      </dsp:nvSpPr>
      <dsp:spPr>
        <a:xfrm>
          <a:off x="0" y="1685845"/>
          <a:ext cx="82296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821708-773E-4462-A661-E5F70F80DBB1}">
      <dsp:nvSpPr>
        <dsp:cNvPr id="0" name=""/>
        <dsp:cNvSpPr/>
      </dsp:nvSpPr>
      <dsp:spPr>
        <a:xfrm>
          <a:off x="411480" y="1464445"/>
          <a:ext cx="57607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Line Chart: Year-wise growth of EVs</a:t>
          </a:r>
        </a:p>
      </dsp:txBody>
      <dsp:txXfrm>
        <a:off x="433096" y="1486061"/>
        <a:ext cx="5717488" cy="399568"/>
      </dsp:txXfrm>
    </dsp:sp>
    <dsp:sp modelId="{6E272963-4140-46F3-B43E-999D8F19BF0F}">
      <dsp:nvSpPr>
        <dsp:cNvPr id="0" name=""/>
        <dsp:cNvSpPr/>
      </dsp:nvSpPr>
      <dsp:spPr>
        <a:xfrm>
          <a:off x="0" y="2366245"/>
          <a:ext cx="82296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1A8608-E7BF-4DE3-9675-7A0F9ACCBD6F}">
      <dsp:nvSpPr>
        <dsp:cNvPr id="0" name=""/>
        <dsp:cNvSpPr/>
      </dsp:nvSpPr>
      <dsp:spPr>
        <a:xfrm>
          <a:off x="411480" y="2144845"/>
          <a:ext cx="57607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Bar Chart: Top Brands by Market Count</a:t>
          </a:r>
        </a:p>
      </dsp:txBody>
      <dsp:txXfrm>
        <a:off x="433096" y="2166461"/>
        <a:ext cx="5717488" cy="399568"/>
      </dsp:txXfrm>
    </dsp:sp>
    <dsp:sp modelId="{756E708A-A973-4F0D-A7D5-EE4293A8D90F}">
      <dsp:nvSpPr>
        <dsp:cNvPr id="0" name=""/>
        <dsp:cNvSpPr/>
      </dsp:nvSpPr>
      <dsp:spPr>
        <a:xfrm>
          <a:off x="0" y="3046645"/>
          <a:ext cx="82296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918CD3-46B3-472B-8EBA-70F0D6D29EA6}">
      <dsp:nvSpPr>
        <dsp:cNvPr id="0" name=""/>
        <dsp:cNvSpPr/>
      </dsp:nvSpPr>
      <dsp:spPr>
        <a:xfrm>
          <a:off x="411480" y="2825245"/>
          <a:ext cx="57607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Map: EV distribution across states/cities</a:t>
          </a:r>
        </a:p>
      </dsp:txBody>
      <dsp:txXfrm>
        <a:off x="433096" y="2846861"/>
        <a:ext cx="5717488" cy="399568"/>
      </dsp:txXfrm>
    </dsp:sp>
    <dsp:sp modelId="{22881E9D-0F3B-4BE7-A2C8-C50B9E24F269}">
      <dsp:nvSpPr>
        <dsp:cNvPr id="0" name=""/>
        <dsp:cNvSpPr/>
      </dsp:nvSpPr>
      <dsp:spPr>
        <a:xfrm>
          <a:off x="0" y="3727045"/>
          <a:ext cx="82296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492A20-CC1E-4BDA-9E8C-63C506FFC9CA}">
      <dsp:nvSpPr>
        <dsp:cNvPr id="0" name=""/>
        <dsp:cNvSpPr/>
      </dsp:nvSpPr>
      <dsp:spPr>
        <a:xfrm>
          <a:off x="411480" y="3505645"/>
          <a:ext cx="57607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Forecast: Predicted growth till 2030</a:t>
          </a:r>
        </a:p>
      </dsp:txBody>
      <dsp:txXfrm>
        <a:off x="433096" y="3527261"/>
        <a:ext cx="5717488" cy="399568"/>
      </dsp:txXfrm>
    </dsp:sp>
    <dsp:sp modelId="{7EC846B2-D133-46FF-970D-E2B4E75614CC}">
      <dsp:nvSpPr>
        <dsp:cNvPr id="0" name=""/>
        <dsp:cNvSpPr/>
      </dsp:nvSpPr>
      <dsp:spPr>
        <a:xfrm>
          <a:off x="0" y="4407445"/>
          <a:ext cx="82296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6807B3-3929-4D1F-A8DE-17B1BC4F543D}">
      <dsp:nvSpPr>
        <dsp:cNvPr id="0" name=""/>
        <dsp:cNvSpPr/>
      </dsp:nvSpPr>
      <dsp:spPr>
        <a:xfrm>
          <a:off x="411480" y="4186045"/>
          <a:ext cx="57607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 err="1"/>
            <a:t>Color</a:t>
          </a:r>
          <a:r>
            <a:rPr lang="en-IN" sz="1500" kern="1200" dirty="0"/>
            <a:t> Theme: Blue + White (Clean, Modern UI)</a:t>
          </a:r>
        </a:p>
      </dsp:txBody>
      <dsp:txXfrm>
        <a:off x="433096" y="4207661"/>
        <a:ext cx="5717488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EBD1F-114C-4128-A11E-8DF886DE30DD}">
      <dsp:nvSpPr>
        <dsp:cNvPr id="0" name=""/>
        <dsp:cNvSpPr/>
      </dsp:nvSpPr>
      <dsp:spPr>
        <a:xfrm>
          <a:off x="0" y="22744"/>
          <a:ext cx="8229600" cy="954719"/>
        </a:xfrm>
        <a:prstGeom prst="roundRect">
          <a:avLst/>
        </a:prstGeom>
        <a:solidFill>
          <a:schemeClr val="accent4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EV adoption is steadily increasing, with rapid growth expected by 2030.</a:t>
          </a:r>
        </a:p>
      </dsp:txBody>
      <dsp:txXfrm>
        <a:off x="46606" y="69350"/>
        <a:ext cx="8136388" cy="861507"/>
      </dsp:txXfrm>
    </dsp:sp>
    <dsp:sp modelId="{004657FE-3133-4E4A-A74E-5506A3262F55}">
      <dsp:nvSpPr>
        <dsp:cNvPr id="0" name=""/>
        <dsp:cNvSpPr/>
      </dsp:nvSpPr>
      <dsp:spPr>
        <a:xfrm>
          <a:off x="0" y="1046584"/>
          <a:ext cx="8229600" cy="954719"/>
        </a:xfrm>
        <a:prstGeom prst="roundRect">
          <a:avLst/>
        </a:prstGeom>
        <a:solidFill>
          <a:schemeClr val="accent4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BEVs now make up over 50% of total EVs.</a:t>
          </a:r>
        </a:p>
      </dsp:txBody>
      <dsp:txXfrm>
        <a:off x="46606" y="1093190"/>
        <a:ext cx="8136388" cy="861507"/>
      </dsp:txXfrm>
    </dsp:sp>
    <dsp:sp modelId="{B40972CC-2CDC-4031-BA2E-A12EBECD88BA}">
      <dsp:nvSpPr>
        <dsp:cNvPr id="0" name=""/>
        <dsp:cNvSpPr/>
      </dsp:nvSpPr>
      <dsp:spPr>
        <a:xfrm>
          <a:off x="0" y="2070424"/>
          <a:ext cx="8229600" cy="954719"/>
        </a:xfrm>
        <a:prstGeom prst="roundRect">
          <a:avLst/>
        </a:prstGeom>
        <a:solidFill>
          <a:schemeClr val="accent4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Tesla, Nissan, and Chevrolet are leading EV adoption across major regions.</a:t>
          </a:r>
        </a:p>
      </dsp:txBody>
      <dsp:txXfrm>
        <a:off x="46606" y="2117030"/>
        <a:ext cx="8136388" cy="861507"/>
      </dsp:txXfrm>
    </dsp:sp>
    <dsp:sp modelId="{2161C9D9-0C90-438A-B571-4B71EE29FEFF}">
      <dsp:nvSpPr>
        <dsp:cNvPr id="0" name=""/>
        <dsp:cNvSpPr/>
      </dsp:nvSpPr>
      <dsp:spPr>
        <a:xfrm>
          <a:off x="0" y="3094264"/>
          <a:ext cx="8229600" cy="954719"/>
        </a:xfrm>
        <a:prstGeom prst="roundRect">
          <a:avLst/>
        </a:prstGeom>
        <a:solidFill>
          <a:schemeClr val="accent4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Strong correlation between electric range and vehicle cost.</a:t>
          </a:r>
        </a:p>
      </dsp:txBody>
      <dsp:txXfrm>
        <a:off x="46606" y="3140870"/>
        <a:ext cx="8136388" cy="861507"/>
      </dsp:txXfrm>
    </dsp:sp>
    <dsp:sp modelId="{5D124D82-13AA-4B8E-93EA-3CC9D888FB7A}">
      <dsp:nvSpPr>
        <dsp:cNvPr id="0" name=""/>
        <dsp:cNvSpPr/>
      </dsp:nvSpPr>
      <dsp:spPr>
        <a:xfrm>
          <a:off x="0" y="4118104"/>
          <a:ext cx="8229600" cy="954719"/>
        </a:xfrm>
        <a:prstGeom prst="roundRect">
          <a:avLst/>
        </a:prstGeom>
        <a:solidFill>
          <a:schemeClr val="accent4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This reflects the accelerating shift toward sustainable transportation.</a:t>
          </a:r>
        </a:p>
      </dsp:txBody>
      <dsp:txXfrm>
        <a:off x="46606" y="4164710"/>
        <a:ext cx="8136388" cy="861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0887" y="2130425"/>
            <a:ext cx="8222226" cy="1755775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sz="4000" dirty="0">
                <a:latin typeface="Algerian" panose="04020705040A02060702" pitchFamily="82" charset="0"/>
              </a:rPr>
              <a:t>EV Market Insights Dashboard</a:t>
            </a:r>
            <a:r>
              <a:rPr lang="en-IN" sz="4000" dirty="0">
                <a:latin typeface="Algerian" panose="04020705040A02060702" pitchFamily="82" charset="0"/>
              </a:rPr>
              <a:t> </a:t>
            </a:r>
            <a:endParaRPr dirty="0">
              <a:latin typeface="Algerian" panose="04020705040A02060702" pitchFamily="82" charset="0"/>
            </a:endParaRPr>
          </a:p>
          <a:p>
            <a:r>
              <a:rPr sz="2800" dirty="0">
                <a:latin typeface="Baskerville Old Face" panose="02020602080505020303" pitchFamily="18" charset="0"/>
              </a:rPr>
              <a:t>Powering the Future of Mobility</a:t>
            </a:r>
            <a:r>
              <a:rPr lang="en-IN" sz="2800" dirty="0"/>
              <a:t>🚗</a:t>
            </a:r>
            <a:endParaRPr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Centaur" panose="02030504050205020304" pitchFamily="18" charset="0"/>
              </a:rPr>
              <a:t>By Amana Ismail</a:t>
            </a:r>
            <a:endParaRPr lang="en-US" dirty="0">
              <a:latin typeface="Centaur" panose="02030504050205020304" pitchFamily="18" charset="0"/>
            </a:endParaRPr>
          </a:p>
          <a:p>
            <a:r>
              <a:rPr dirty="0"/>
              <a:t> </a:t>
            </a:r>
            <a:r>
              <a:rPr sz="1600" dirty="0"/>
              <a:t>| Data Analyst | Power BI &amp; Python Enthusiast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📘 </a:t>
            </a:r>
            <a:r>
              <a:rPr dirty="0">
                <a:latin typeface="Baskerville Old Face" panose="02020602080505020303" pitchFamily="18" charset="0"/>
              </a:rPr>
              <a:t>Introduction &amp; Objective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834671-A63A-253C-A59D-A04599145D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684646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>
                <a:latin typeface="Baskerville Old Face" panose="02020602080505020303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 fontScale="62500" lnSpcReduction="20000"/>
          </a:bodyPr>
          <a:lstStyle/>
          <a:p>
            <a:endParaRPr dirty="0"/>
          </a:p>
          <a:p>
            <a:r>
              <a:rPr dirty="0"/>
              <a:t>Dataset: Electric Vehicle Population Data (from data.gov)</a:t>
            </a:r>
          </a:p>
          <a:p>
            <a:r>
              <a:rPr dirty="0"/>
              <a:t>Records: 130,000+ EV entries</a:t>
            </a:r>
          </a:p>
          <a:p>
            <a:r>
              <a:rPr dirty="0"/>
              <a:t>Key Columns: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Model Year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Make (Brand)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EV Type (BEV / PHEV)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Electric Range (miles)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Base MSRP (Price)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 City / State</a:t>
            </a:r>
          </a:p>
          <a:p>
            <a:endParaRPr dirty="0"/>
          </a:p>
          <a:p>
            <a:r>
              <a:rPr dirty="0"/>
              <a:t>Purpose:</a:t>
            </a:r>
          </a:p>
          <a:p>
            <a:r>
              <a:rPr dirty="0"/>
              <a:t>To analyze EV adoption patterns, battery ranges, and brand-wise growth.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skerville Old Face" panose="02020602080505020303" pitchFamily="18" charset="0"/>
              </a:rPr>
              <a:t>🧹 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rmAutofit fontScale="850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dirty="0"/>
              <a:t>Performed using Python (Pandas &amp; NumPy):</a:t>
            </a:r>
          </a:p>
          <a:p>
            <a:pPr marL="0" indent="0">
              <a:buNone/>
            </a:pPr>
            <a:r>
              <a:rPr dirty="0"/>
              <a:t>• Removed duplicates and null values</a:t>
            </a:r>
          </a:p>
          <a:p>
            <a:pPr marL="0" indent="0">
              <a:buNone/>
            </a:pPr>
            <a:r>
              <a:rPr dirty="0"/>
              <a:t>• Standardized column names</a:t>
            </a:r>
          </a:p>
          <a:p>
            <a:pPr marL="0" indent="0">
              <a:buNone/>
            </a:pPr>
            <a:r>
              <a:rPr dirty="0"/>
              <a:t>• Filtered EVs with valid range and price data</a:t>
            </a:r>
          </a:p>
          <a:p>
            <a:pPr marL="0" indent="0">
              <a:buNone/>
            </a:pPr>
            <a:r>
              <a:rPr dirty="0"/>
              <a:t>• Converted data types for analysis</a:t>
            </a:r>
          </a:p>
          <a:p>
            <a:pPr marL="0" indent="0">
              <a:buNone/>
            </a:pPr>
            <a:r>
              <a:rPr dirty="0"/>
              <a:t>• Exported clean dataset (cleaned_ev_data.csv)</a:t>
            </a:r>
          </a:p>
          <a:p>
            <a:endParaRPr dirty="0"/>
          </a:p>
          <a:p>
            <a:r>
              <a:rPr dirty="0"/>
              <a:t>Outcome:</a:t>
            </a:r>
          </a:p>
          <a:p>
            <a:r>
              <a:rPr dirty="0"/>
              <a:t>A structured, analysis-ready dataset for Power BI dashboarding.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skerville Old Face" panose="02020602080505020303" pitchFamily="18" charset="0"/>
              </a:rPr>
              <a:t>📊 Python Analysis &amp;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Libraries Used: Pandas, Matplotlib, Seaborn</a:t>
            </a:r>
          </a:p>
          <a:p>
            <a:endParaRPr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marL="0" indent="0">
              <a:buNone/>
            </a:pPr>
            <a:r>
              <a:rPr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• Year-wise EV adoption trend visualization</a:t>
            </a:r>
          </a:p>
          <a:p>
            <a:pPr marL="0" indent="0">
              <a:buNone/>
            </a:pPr>
            <a:r>
              <a:rPr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• Correlation between battery range and price</a:t>
            </a:r>
          </a:p>
          <a:p>
            <a:pPr marL="0" indent="0">
              <a:buNone/>
            </a:pPr>
            <a:r>
              <a:rPr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• Top 10 EV brands by adoption</a:t>
            </a:r>
          </a:p>
          <a:p>
            <a:pPr marL="0" indent="0">
              <a:buNone/>
            </a:pPr>
            <a:r>
              <a:rPr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• BEV vs PHEV distribution</a:t>
            </a:r>
          </a:p>
          <a:p>
            <a:endParaRPr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r>
              <a:rPr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Insights derived from Python analysis guided Power BI visual design.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📈 </a:t>
            </a:r>
            <a:r>
              <a:rPr dirty="0">
                <a:latin typeface="Baskerville Old Face" panose="02020602080505020303" pitchFamily="18" charset="0"/>
              </a:rPr>
              <a:t>Power BI Dashboard Highlights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6994D8F-FBF1-6032-8483-60143ED785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590557"/>
              </p:ext>
            </p:extLst>
          </p:nvPr>
        </p:nvGraphicFramePr>
        <p:xfrm>
          <a:off x="457200" y="1600200"/>
          <a:ext cx="8229600" cy="4889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skerville Old Face" panose="02020602080505020303" pitchFamily="18" charset="0"/>
              </a:rPr>
              <a:t>💡 Key Insights &amp; Findings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723A9F-00F5-276C-CAAA-21A317AE41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959386"/>
              </p:ext>
            </p:extLst>
          </p:nvPr>
        </p:nvGraphicFramePr>
        <p:xfrm>
          <a:off x="457200" y="1600200"/>
          <a:ext cx="8229600" cy="5095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Baskerville Old Face" panose="02020602080505020303" pitchFamily="18" charset="0"/>
              </a:rPr>
              <a:t> Learning Outcomes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05632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 fontScale="775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dirty="0"/>
              <a:t>• Enhanced my skills in data cleaning, visualization, and storytelling.</a:t>
            </a:r>
          </a:p>
          <a:p>
            <a:pPr marL="0" indent="0">
              <a:buNone/>
            </a:pPr>
            <a:r>
              <a:rPr dirty="0"/>
              <a:t>• Learned how to combine Python analysis with Power BI interactivity.</a:t>
            </a:r>
          </a:p>
          <a:p>
            <a:pPr marL="0" indent="0">
              <a:buNone/>
            </a:pPr>
            <a:r>
              <a:rPr dirty="0"/>
              <a:t>• Strengthened understanding of real-world EV industry data.</a:t>
            </a:r>
          </a:p>
          <a:p>
            <a:endParaRPr dirty="0"/>
          </a:p>
          <a:p>
            <a:r>
              <a:rPr dirty="0"/>
              <a:t>Next Steps:</a:t>
            </a:r>
          </a:p>
          <a:p>
            <a:pPr marL="0" indent="0">
              <a:buNone/>
            </a:pPr>
            <a:r>
              <a:rPr dirty="0"/>
              <a:t>→ Build similar dashboards on other sustainability or tech domains.</a:t>
            </a:r>
          </a:p>
          <a:p>
            <a:pPr marL="0" indent="0">
              <a:buNone/>
            </a:pPr>
            <a:r>
              <a:rPr dirty="0"/>
              <a:t>→ Integrate predictive analytics for EV market forecasting.</a:t>
            </a:r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452</Words>
  <Application>Microsoft Office PowerPoint</Application>
  <PresentationFormat>On-screen Show (4:3)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Algerian</vt:lpstr>
      <vt:lpstr>Arial</vt:lpstr>
      <vt:lpstr>Baskerville Old Face</vt:lpstr>
      <vt:lpstr>Calibri</vt:lpstr>
      <vt:lpstr>Centaur</vt:lpstr>
      <vt:lpstr>Wingdings</vt:lpstr>
      <vt:lpstr>Office Theme</vt:lpstr>
      <vt:lpstr>EV Market Insights Dashboard  Powering the Future of Mobility🚗</vt:lpstr>
      <vt:lpstr>📘 Introduction &amp; Objective</vt:lpstr>
      <vt:lpstr> Dataset Overview</vt:lpstr>
      <vt:lpstr>🧹 Data Cleaning &amp; Preprocessing</vt:lpstr>
      <vt:lpstr>📊 Python Analysis &amp; Visuals</vt:lpstr>
      <vt:lpstr>📈 Power BI Dashboard Highlights</vt:lpstr>
      <vt:lpstr>💡 Key Insights &amp; Findings</vt:lpstr>
      <vt:lpstr> Learning Outcomes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Amana Ismail</cp:lastModifiedBy>
  <cp:revision>2</cp:revision>
  <dcterms:created xsi:type="dcterms:W3CDTF">2013-01-27T09:14:16Z</dcterms:created>
  <dcterms:modified xsi:type="dcterms:W3CDTF">2025-11-01T18:56:40Z</dcterms:modified>
  <cp:category/>
</cp:coreProperties>
</file>